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Work Sans Medium"/>
      <p:regular r:id="rId25"/>
      <p:bold r:id="rId26"/>
      <p:italic r:id="rId27"/>
      <p:boldItalic r:id="rId28"/>
    </p:embeddedFont>
    <p:embeddedFont>
      <p:font typeface="Work Sans"/>
      <p:regular r:id="rId29"/>
      <p:bold r:id="rId30"/>
      <p:italic r:id="rId31"/>
      <p:boldItalic r:id="rId32"/>
    </p:embeddedFont>
    <p:embeddedFont>
      <p:font typeface="Work Sans Light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gX23F0Qhyhkyn2Hmhm55p7lhz29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ánchez Góm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241FF6-7387-43FA-BE95-B02002638E6E}">
  <a:tblStyle styleId="{34241FF6-7387-43FA-BE95-B02002638E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WorkSansMedium-bold.fntdata"/><Relationship Id="rId25" Type="http://schemas.openxmlformats.org/officeDocument/2006/relationships/font" Target="fonts/WorkSansMedium-regular.fntdata"/><Relationship Id="rId28" Type="http://schemas.openxmlformats.org/officeDocument/2006/relationships/font" Target="fonts/WorkSansMedium-boldItalic.fntdata"/><Relationship Id="rId27" Type="http://schemas.openxmlformats.org/officeDocument/2006/relationships/font" Target="fonts/WorkSans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Work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-italic.fntdata"/><Relationship Id="rId30" Type="http://schemas.openxmlformats.org/officeDocument/2006/relationships/font" Target="fonts/WorkSans-bold.fntdata"/><Relationship Id="rId11" Type="http://schemas.openxmlformats.org/officeDocument/2006/relationships/slide" Target="slides/slide5.xml"/><Relationship Id="rId33" Type="http://schemas.openxmlformats.org/officeDocument/2006/relationships/font" Target="fonts/WorkSansLight-regular.fntdata"/><Relationship Id="rId10" Type="http://schemas.openxmlformats.org/officeDocument/2006/relationships/slide" Target="slides/slide4.xml"/><Relationship Id="rId32" Type="http://schemas.openxmlformats.org/officeDocument/2006/relationships/font" Target="fonts/WorkSans-boldItalic.fntdata"/><Relationship Id="rId13" Type="http://schemas.openxmlformats.org/officeDocument/2006/relationships/slide" Target="slides/slide7.xml"/><Relationship Id="rId35" Type="http://schemas.openxmlformats.org/officeDocument/2006/relationships/font" Target="fonts/WorkSansLight-italic.fntdata"/><Relationship Id="rId12" Type="http://schemas.openxmlformats.org/officeDocument/2006/relationships/slide" Target="slides/slide6.xml"/><Relationship Id="rId34" Type="http://schemas.openxmlformats.org/officeDocument/2006/relationships/font" Target="fonts/WorkSansLight-bold.fntdata"/><Relationship Id="rId15" Type="http://schemas.openxmlformats.org/officeDocument/2006/relationships/slide" Target="slides/slide9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8.xml"/><Relationship Id="rId36" Type="http://schemas.openxmlformats.org/officeDocument/2006/relationships/font" Target="fonts/WorkSansLight-boldItalic.fntdata"/><Relationship Id="rId17" Type="http://schemas.openxmlformats.org/officeDocument/2006/relationships/slide" Target="slides/slide11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0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9T17:32:09.265">
    <p:pos x="6000" y="0"/>
    <p:text>Dejar por el momento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5VbOf2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3de710b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973de710b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3de710b4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73de710b4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73de710b4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3de710b4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73de710b4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73de710b4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71748a97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71748a97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71748a97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1de80997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1de80997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1de80997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4" name="Google Shape;1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0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9" name="Google Shape;29;p19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9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4" name="Google Shape;34;p20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5" name="Google Shape;35;p20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1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0" name="Google Shape;40;p21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41" name="Google Shape;41;p21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6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5" name="Google Shape;75;p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kQrD1CXvsGZWohcajuuiqUgdo9u-vNl1geFVyc912OA/edit?usp=shari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5593873" y="962503"/>
            <a:ext cx="28542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s-MX" sz="89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AM</a:t>
            </a:r>
            <a:endParaRPr b="1" i="0" sz="89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2" name="Google Shape;82;p1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2317" l="2875" r="2875" t="2317"/>
          <a:stretch/>
        </p:blipFill>
        <p:spPr>
          <a:xfrm>
            <a:off x="4701134" y="4317828"/>
            <a:ext cx="2141888" cy="15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7759120" y="4317813"/>
            <a:ext cx="1535474" cy="15738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2870020" y="2424701"/>
            <a:ext cx="8301900" cy="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MX" sz="3400"/>
              <a:t>ALISTAMIENTO Y MANTENIMIENTO. </a:t>
            </a:r>
            <a:endParaRPr b="1" sz="3400"/>
          </a:p>
          <a:p>
            <a:pPr indent="0" lvl="0" marL="18288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/>
              <a:t>Proyecto: Sistema Integrado de Alistamiento, Mantenimiento y Calidad ( Para Taller IC-Colombia).</a:t>
            </a:r>
            <a:endParaRPr sz="6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3426001" y="1793613"/>
            <a:ext cx="53400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0" i="0" lang="es-MX" sz="99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AM</a:t>
            </a:r>
            <a:endParaRPr b="0" i="0" sz="4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2"/>
          <p:cNvSpPr txBox="1"/>
          <p:nvPr/>
        </p:nvSpPr>
        <p:spPr>
          <a:xfrm>
            <a:off x="4286552" y="3405819"/>
            <a:ext cx="3618900" cy="17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Arias Pinilla Juan Manuel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Chaparro Ramirez Juan Sebastian</a:t>
            </a:r>
            <a:endParaRPr b="1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Pinzon Robles Santiago Alejandro</a:t>
            </a:r>
            <a:endParaRPr b="0" i="0" sz="17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-MX" sz="17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Sanchez Gomez Daiver Andrey</a:t>
            </a:r>
            <a:endParaRPr b="0" i="0" sz="17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Servicio Nacional de Aprendizaje –SENA, Centro de Electricidad Electrónica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Técnico en Programación de Software - TPS, Primer Trimestre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Instructor Albeiro Ramos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MX" sz="1600" u="none" cap="none" strike="noStrike">
                <a:solidFill>
                  <a:schemeClr val="l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Bogotá, 25 de marzo de 2023</a:t>
            </a:r>
            <a:endParaRPr b="1" i="0" sz="1600" u="none" cap="none" strike="noStrike">
              <a:solidFill>
                <a:schemeClr val="l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1080600" y="331715"/>
            <a:ext cx="100308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MX" sz="3400">
                <a:solidFill>
                  <a:srgbClr val="FFFFFF"/>
                </a:solidFill>
              </a:rPr>
              <a:t>ALISTAMIENTO Y MANTENIMIENTO. </a:t>
            </a:r>
            <a:endParaRPr b="1" sz="3400">
              <a:solidFill>
                <a:srgbClr val="FFFFFF"/>
              </a:solidFill>
            </a:endParaRPr>
          </a:p>
          <a:p>
            <a:pPr indent="0" lvl="0" marL="18288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rgbClr val="FFFFFF"/>
                </a:solidFill>
              </a:rPr>
              <a:t>Proyecto: Sistema Integrado de Alistamiento, Mantenimiento y Calidad ( Para Taller IC-Colombia).</a:t>
            </a:r>
            <a:endParaRPr sz="6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 rot="-5400000">
            <a:off x="6659550" y="1313283"/>
            <a:ext cx="5107800" cy="5957100"/>
          </a:xfrm>
          <a:prstGeom prst="rtTriangle">
            <a:avLst/>
          </a:prstGeom>
          <a:solidFill>
            <a:srgbClr val="38AA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5628645" y="1895099"/>
            <a:ext cx="3514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 Light"/>
              <a:buNone/>
            </a:pPr>
            <a:r>
              <a:rPr b="1" i="0" lang="es-MX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Introducción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693818" y="2440927"/>
            <a:ext cx="2940000" cy="347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0" y="3055575"/>
            <a:ext cx="7209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s-MX" sz="1500" u="none" cap="none" strike="noStrike">
                <a:solidFill>
                  <a:schemeClr val="dk1"/>
                </a:solidFill>
              </a:rPr>
              <a:t>El proyecto se desarrolla en una empresa (</a:t>
            </a:r>
            <a:r>
              <a:rPr b="1" lang="es-MX" sz="1500">
                <a:solidFill>
                  <a:schemeClr val="dk1"/>
                </a:solidFill>
              </a:rPr>
              <a:t>Importadora IC-Colombia</a:t>
            </a:r>
            <a:r>
              <a:rPr lang="es-MX" sz="1500">
                <a:solidFill>
                  <a:schemeClr val="dk1"/>
                </a:solidFill>
              </a:rPr>
              <a:t>) </a:t>
            </a:r>
            <a:r>
              <a:rPr i="0" lang="es-MX" sz="1500" u="none" cap="none" strike="noStrike">
                <a:solidFill>
                  <a:schemeClr val="dk1"/>
                </a:solidFill>
              </a:rPr>
              <a:t>dedicada a la </a:t>
            </a:r>
            <a:r>
              <a:rPr b="1" i="0" lang="es-MX" sz="1500" u="none" cap="none" strike="noStrike">
                <a:solidFill>
                  <a:srgbClr val="FF0000"/>
                </a:solidFill>
              </a:rPr>
              <a:t>importación  de repuestos </a:t>
            </a:r>
            <a:r>
              <a:rPr b="1" lang="es-MX" sz="1500">
                <a:solidFill>
                  <a:srgbClr val="FF0000"/>
                </a:solidFill>
              </a:rPr>
              <a:t>y mantenimiento de</a:t>
            </a:r>
            <a:r>
              <a:rPr b="1" i="0" lang="es-MX" sz="1500" u="none" cap="none" strike="noStrike">
                <a:solidFill>
                  <a:srgbClr val="FF0000"/>
                </a:solidFill>
              </a:rPr>
              <a:t> maquinaria pesada</a:t>
            </a:r>
            <a:r>
              <a:rPr i="0" lang="es-MX" sz="1500" u="none" cap="none" strike="noStrike">
                <a:solidFill>
                  <a:schemeClr val="dk1"/>
                </a:solidFill>
              </a:rPr>
              <a:t>.</a:t>
            </a:r>
            <a:r>
              <a:rPr lang="es-MX" sz="1500">
                <a:solidFill>
                  <a:schemeClr val="dk1"/>
                </a:solidFill>
              </a:rPr>
              <a:t> </a:t>
            </a:r>
            <a:r>
              <a:rPr i="0" lang="es-MX" sz="1500" u="none" cap="none" strike="noStrike">
                <a:solidFill>
                  <a:schemeClr val="dk1"/>
                </a:solidFill>
              </a:rPr>
              <a:t> </a:t>
            </a:r>
            <a:endParaRPr i="0" sz="15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500"/>
              <a:t>El producto surge como respuesta a la necesidad de digitalizar y blindar bajo norma </a:t>
            </a:r>
            <a:r>
              <a:rPr b="1" lang="es-MX" sz="1500"/>
              <a:t>ISO 9001</a:t>
            </a:r>
            <a:r>
              <a:rPr lang="es-MX" sz="1500"/>
              <a:t> los procesos críticos de alistamiento y mantenimiento de equipos, eliminando la </a:t>
            </a:r>
            <a:r>
              <a:rPr b="1" lang="es-MX" sz="1500">
                <a:solidFill>
                  <a:srgbClr val="FF0000"/>
                </a:solidFill>
              </a:rPr>
              <a:t>fragilidad de los registros manuales</a:t>
            </a:r>
            <a:r>
              <a:rPr lang="es-MX" sz="1500"/>
              <a:t>.</a:t>
            </a:r>
            <a:br>
              <a:rPr lang="es-MX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i="0" lang="es-MX" sz="1500" u="none" cap="none" strike="noStrike">
                <a:solidFill>
                  <a:schemeClr val="dk1"/>
                </a:solidFill>
              </a:rPr>
            </a:br>
            <a:r>
              <a:rPr lang="es-MX" sz="1500"/>
              <a:t>El </a:t>
            </a:r>
            <a:r>
              <a:rPr b="1" lang="es-MX" sz="1500"/>
              <a:t>Sistema Integrado A.M</a:t>
            </a:r>
            <a:r>
              <a:rPr lang="es-MX" sz="1500"/>
              <a:t> es una </a:t>
            </a:r>
            <a:r>
              <a:rPr b="1" lang="es-MX" sz="1500">
                <a:solidFill>
                  <a:srgbClr val="FF0000"/>
                </a:solidFill>
              </a:rPr>
              <a:t>solución tecnológica</a:t>
            </a:r>
            <a:r>
              <a:rPr lang="es-MX" sz="1500"/>
              <a:t> de nivel </a:t>
            </a:r>
            <a:r>
              <a:rPr b="1" lang="es-MX" sz="1500"/>
              <a:t>CMMS (Sistema de Gestión de Mantenimiento Computarizado)</a:t>
            </a:r>
            <a:r>
              <a:rPr lang="es-MX" sz="1500"/>
              <a:t> diseñada específicamente para la industria de maquinaria pesada y mecanica diesel.</a:t>
            </a:r>
            <a:br>
              <a:rPr lang="es-MX" sz="1500"/>
            </a:b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500"/>
              <a:t>En esta exposición se </a:t>
            </a:r>
            <a:r>
              <a:rPr lang="es-MX" sz="1500"/>
              <a:t>detalla</a:t>
            </a:r>
            <a:r>
              <a:rPr lang="es-MX" sz="1500"/>
              <a:t> la arquitectura del producto, la lógica de sus </a:t>
            </a:r>
            <a:r>
              <a:rPr b="1" lang="es-MX" sz="1500"/>
              <a:t>7 bases de datos interconectadas</a:t>
            </a:r>
            <a:r>
              <a:rPr lang="es-MX" sz="1500"/>
              <a:t>, y cómo la plataforma optimiza el retorno de inversión mediante el control preciso de </a:t>
            </a:r>
            <a:r>
              <a:rPr lang="es-MX" sz="1500"/>
              <a:t>horometros</a:t>
            </a:r>
            <a:r>
              <a:rPr lang="es-MX" sz="1500"/>
              <a:t> y mantenimiento predictivo.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2" name="Google Shape;102;p4" title="Gemini_Generated_Image_ph9u8dph9u8dph9u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777" y="213175"/>
            <a:ext cx="3854399" cy="276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 title="logo-banner.png"/>
          <p:cNvPicPr preferRelativeResize="0"/>
          <p:nvPr/>
        </p:nvPicPr>
        <p:blipFill rotWithShape="1">
          <a:blip r:embed="rId5">
            <a:alphaModFix/>
          </a:blip>
          <a:srcRect b="0" l="22536" r="18376" t="0"/>
          <a:stretch/>
        </p:blipFill>
        <p:spPr>
          <a:xfrm>
            <a:off x="5170513" y="213175"/>
            <a:ext cx="1850978" cy="161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 title="WhatsApp Image 2026-04-01 at 7.46.31 PM.jpeg"/>
          <p:cNvPicPr preferRelativeResize="0"/>
          <p:nvPr/>
        </p:nvPicPr>
        <p:blipFill rotWithShape="1">
          <a:blip r:embed="rId6">
            <a:alphaModFix/>
          </a:blip>
          <a:srcRect b="5552" l="3120" r="2630" t="10836"/>
          <a:stretch/>
        </p:blipFill>
        <p:spPr>
          <a:xfrm>
            <a:off x="7519700" y="213187"/>
            <a:ext cx="2850425" cy="1580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4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865800" y="416700"/>
            <a:ext cx="100308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MX" sz="3400">
                <a:solidFill>
                  <a:srgbClr val="FFFFFF"/>
                </a:solidFill>
              </a:rPr>
              <a:t>ALISTAMIENTO Y MANTENIMIENTO. </a:t>
            </a:r>
            <a:endParaRPr b="1" sz="3400">
              <a:solidFill>
                <a:srgbClr val="FFFFFF"/>
              </a:solidFill>
            </a:endParaRPr>
          </a:p>
          <a:p>
            <a:pPr indent="0" lvl="0" marL="18288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300">
                <a:solidFill>
                  <a:srgbClr val="FFFFFF"/>
                </a:solidFill>
              </a:rPr>
              <a:t>Proyecto: Sistema Integrado de Alistamiento, Mantenimiento y Calidad ( Para Taller IC-Colombia).</a:t>
            </a:r>
            <a:endParaRPr sz="6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637121" y="3103850"/>
            <a:ext cx="28503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MX" sz="2100">
                <a:solidFill>
                  <a:schemeClr val="lt1"/>
                </a:solidFill>
              </a:rPr>
              <a:t>CONTENIDO</a:t>
            </a:r>
            <a:endParaRPr b="1" sz="2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Problema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Objetivos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Justificación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Alcance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Delimitación</a:t>
            </a:r>
            <a:endParaRPr i="0" sz="300" u="none" cap="none" strike="noStrike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s-MX" sz="2100" u="none" cap="none" strike="noStrike">
                <a:solidFill>
                  <a:schemeClr val="lt1"/>
                </a:solidFill>
              </a:rPr>
              <a:t>Entregables Trimestre</a:t>
            </a:r>
            <a:endParaRPr i="0" sz="300" u="none" cap="none" strike="noStrike">
              <a:solidFill>
                <a:schemeClr val="lt1"/>
              </a:solidFill>
            </a:endParaRPr>
          </a:p>
        </p:txBody>
      </p:sp>
      <p:pic>
        <p:nvPicPr>
          <p:cNvPr id="111" name="Google Shape;111;p3" title="WhatsApp Image 2026-04-01 at 7.46.31 PM.jpeg"/>
          <p:cNvPicPr preferRelativeResize="0"/>
          <p:nvPr/>
        </p:nvPicPr>
        <p:blipFill rotWithShape="1">
          <a:blip r:embed="rId5">
            <a:alphaModFix/>
          </a:blip>
          <a:srcRect b="5552" l="3120" r="2630" t="10836"/>
          <a:stretch/>
        </p:blipFill>
        <p:spPr>
          <a:xfrm>
            <a:off x="8313500" y="2693162"/>
            <a:ext cx="2850425" cy="1580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3" title="logo-banner.png"/>
          <p:cNvPicPr preferRelativeResize="0"/>
          <p:nvPr/>
        </p:nvPicPr>
        <p:blipFill rotWithShape="1">
          <a:blip r:embed="rId6">
            <a:alphaModFix/>
          </a:blip>
          <a:srcRect b="0" l="22536" r="18376" t="0"/>
          <a:stretch/>
        </p:blipFill>
        <p:spPr>
          <a:xfrm>
            <a:off x="8658789" y="4625401"/>
            <a:ext cx="2159848" cy="188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394828" y="100950"/>
            <a:ext cx="7954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Problema</a:t>
            </a:r>
            <a:endParaRPr sz="6000"/>
          </a:p>
        </p:txBody>
      </p:sp>
      <p:sp>
        <p:nvSpPr>
          <p:cNvPr id="118" name="Google Shape;118;p5"/>
          <p:cNvSpPr txBox="1"/>
          <p:nvPr/>
        </p:nvSpPr>
        <p:spPr>
          <a:xfrm>
            <a:off x="5872475" y="1730775"/>
            <a:ext cx="6268800" cy="416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2500">
                <a:solidFill>
                  <a:srgbClr val="FF0000"/>
                </a:solidFill>
              </a:rPr>
              <a:t>El Problema Central</a:t>
            </a:r>
            <a:endParaRPr b="1" sz="2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500"/>
              <a:t>Existe un riesgo de </a:t>
            </a:r>
            <a:r>
              <a:rPr b="1" lang="es-MX" sz="1500"/>
              <a:t>fragmentación crítica de la información</a:t>
            </a:r>
            <a:r>
              <a:rPr lang="es-MX" sz="1500"/>
              <a:t> y una </a:t>
            </a:r>
            <a:r>
              <a:rPr b="1" lang="es-MX" sz="1500"/>
              <a:t>vulnerabilidad operativa</a:t>
            </a:r>
            <a:r>
              <a:rPr lang="es-MX" sz="1500"/>
              <a:t> en la capa lógica/documental, a pesar de contar con infraestructura física de última generación.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rgbClr val="FF0000"/>
                </a:solidFill>
              </a:rPr>
              <a:t>PÉRDIDA</a:t>
            </a:r>
            <a:r>
              <a:rPr b="1" lang="es-MX" sz="2000">
                <a:solidFill>
                  <a:srgbClr val="FF0000"/>
                </a:solidFill>
              </a:rPr>
              <a:t> DE </a:t>
            </a:r>
            <a:r>
              <a:rPr b="1" lang="es-MX" sz="2000">
                <a:solidFill>
                  <a:srgbClr val="FF0000"/>
                </a:solidFill>
              </a:rPr>
              <a:t>INFORMACIÓN</a:t>
            </a:r>
            <a:r>
              <a:rPr b="1" lang="es-MX" sz="2000">
                <a:solidFill>
                  <a:srgbClr val="FF0000"/>
                </a:solidFill>
              </a:rPr>
              <a:t>. 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2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La información se recopiló mediante </a:t>
            </a:r>
            <a:r>
              <a:rPr b="1" lang="es-MX" sz="22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actividades de observación directa con el participante (MATRIZ FODA) y revision de documentación; </a:t>
            </a:r>
            <a:r>
              <a:rPr b="1" lang="es-MX" sz="2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Al Líder de Calidad y el Ingeniero Jefe del taller </a:t>
            </a:r>
            <a:endParaRPr b="1" sz="2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19" name="Google Shape;119;p5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43974" y="1730775"/>
            <a:ext cx="5525751" cy="46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3de710b4_0_5"/>
          <p:cNvSpPr txBox="1"/>
          <p:nvPr/>
        </p:nvSpPr>
        <p:spPr>
          <a:xfrm>
            <a:off x="456236" y="457723"/>
            <a:ext cx="105156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Work Sans Medium"/>
              <a:buNone/>
            </a:pPr>
            <a:r>
              <a:rPr b="1" lang="es-MX" sz="4400">
                <a:solidFill>
                  <a:srgbClr val="FF0000"/>
                </a:solidFill>
                <a:latin typeface="Work Sans"/>
                <a:ea typeface="Work Sans"/>
                <a:cs typeface="Work Sans"/>
                <a:sym typeface="Work Sans"/>
              </a:rPr>
              <a:t>Problema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7" name="Google Shape;127;g3973de710b4_0_5"/>
          <p:cNvSpPr txBox="1"/>
          <p:nvPr/>
        </p:nvSpPr>
        <p:spPr>
          <a:xfrm>
            <a:off x="372303" y="1433271"/>
            <a:ext cx="11447400" cy="5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MX" sz="1900"/>
              <a:t>Puntos debiles o necesidadades encontradas  (D1 - D3)</a:t>
            </a:r>
            <a:endParaRPr b="1"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700"/>
              <a:t>Captura Manual (D1):</a:t>
            </a:r>
            <a:r>
              <a:rPr lang="es-MX" sz="1700"/>
              <a:t> </a:t>
            </a:r>
            <a:r>
              <a:rPr b="1" lang="es-MX" sz="1700">
                <a:solidFill>
                  <a:srgbClr val="FF0000"/>
                </a:solidFill>
              </a:rPr>
              <a:t>Dependencia del papel y hojas de cálculo</a:t>
            </a:r>
            <a:r>
              <a:rPr lang="es-MX" sz="1700"/>
              <a:t>. Resulta en pérdida de trazabilidad, errores humanos y desactualización de Hojas de Vida (HV).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700"/>
              <a:t>Diagnóstico Ineficiente (D2):</a:t>
            </a:r>
            <a:r>
              <a:rPr lang="es-MX" sz="1700"/>
              <a:t> </a:t>
            </a:r>
            <a:r>
              <a:rPr b="1" lang="es-MX" sz="1700">
                <a:solidFill>
                  <a:srgbClr val="FF0000"/>
                </a:solidFill>
              </a:rPr>
              <a:t>Ausencia de históricos centralizados en tiempo real</a:t>
            </a:r>
            <a:r>
              <a:rPr lang="es-MX" sz="1700"/>
              <a:t>. Esto eleva el </a:t>
            </a:r>
            <a:r>
              <a:rPr b="1" lang="es-MX" sz="1700"/>
              <a:t>MTTR</a:t>
            </a:r>
            <a:r>
              <a:rPr lang="es-MX" sz="1700"/>
              <a:t> (Tiempo Medio de Reparación) al impedir el análisis de patrones de falla.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700"/>
              <a:t>Ruptura de Suministros (D3):</a:t>
            </a:r>
            <a:r>
              <a:rPr lang="es-MX" sz="1700"/>
              <a:t> </a:t>
            </a:r>
            <a:r>
              <a:rPr b="1" lang="es-MX" sz="1700">
                <a:solidFill>
                  <a:srgbClr val="FF0000"/>
                </a:solidFill>
              </a:rPr>
              <a:t>Desconexión entre el estado del equipo y el inventario</a:t>
            </a:r>
            <a:r>
              <a:rPr lang="es-MX" sz="1700"/>
              <a:t>, causando paradas prolongadas y riesgos en compromisos contractuales.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2000"/>
              <a:t>Siendo los procesos a intervenir: </a:t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900"/>
              <a:t>Alistamiento de Flota:</a:t>
            </a:r>
            <a:r>
              <a:rPr lang="es-MX" sz="1900"/>
              <a:t> Verificación técnica.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900"/>
              <a:t>Mantenimiento Preventivo/Correctivo:</a:t>
            </a:r>
            <a:r>
              <a:rPr lang="es-MX" sz="1900"/>
              <a:t> Gestión de OTs y Hoja de Vida.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900"/>
              <a:t>Gestión de compras y manejo de inventarios:</a:t>
            </a:r>
            <a:r>
              <a:rPr lang="es-MX" sz="1900"/>
              <a:t> Hoja de vida de proveedores y KARDEX.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900"/>
              <a:t>Gestión de Calidad:</a:t>
            </a:r>
            <a:r>
              <a:rPr lang="es-MX" sz="1900"/>
              <a:t> Evidencia para auditorías ISO 9001.</a:t>
            </a:r>
            <a:endParaRPr sz="19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8" name="Google Shape;128;g3973de710b4_0_5" title="WhatsApp Image 2026-04-01 at 7.46.31 PM.jpeg"/>
          <p:cNvPicPr preferRelativeResize="0"/>
          <p:nvPr/>
        </p:nvPicPr>
        <p:blipFill rotWithShape="1">
          <a:blip r:embed="rId4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973de710b4_0_5" title="logo-banner.png"/>
          <p:cNvPicPr preferRelativeResize="0"/>
          <p:nvPr/>
        </p:nvPicPr>
        <p:blipFill rotWithShape="1">
          <a:blip r:embed="rId5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73de710b4_0_104"/>
          <p:cNvSpPr txBox="1"/>
          <p:nvPr/>
        </p:nvSpPr>
        <p:spPr>
          <a:xfrm>
            <a:off x="1143225" y="1150449"/>
            <a:ext cx="43746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b="1" i="0" lang="es-MX" sz="3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1600" u="none" cap="none" strike="noStrike">
              <a:solidFill>
                <a:srgbClr val="000000"/>
              </a:solidFill>
            </a:endParaRPr>
          </a:p>
        </p:txBody>
      </p:sp>
      <p:sp>
        <p:nvSpPr>
          <p:cNvPr id="136" name="Google Shape;136;g3973de710b4_0_104"/>
          <p:cNvSpPr/>
          <p:nvPr/>
        </p:nvSpPr>
        <p:spPr>
          <a:xfrm>
            <a:off x="1447275" y="1757179"/>
            <a:ext cx="3468900" cy="138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973de710b4_0_104"/>
          <p:cNvSpPr txBox="1"/>
          <p:nvPr/>
        </p:nvSpPr>
        <p:spPr>
          <a:xfrm>
            <a:off x="96625" y="2222100"/>
            <a:ext cx="6220800" cy="4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0000FF"/>
                </a:solidFill>
              </a:rPr>
              <a:t>Desarrollar un sistema integrado de </a:t>
            </a:r>
            <a:r>
              <a:rPr b="1" lang="es-MX" sz="1800">
                <a:solidFill>
                  <a:srgbClr val="0000FF"/>
                </a:solidFill>
              </a:rPr>
              <a:t>recopilación</a:t>
            </a:r>
            <a:r>
              <a:rPr b="1" lang="es-MX" sz="1800">
                <a:solidFill>
                  <a:srgbClr val="0000FF"/>
                </a:solidFill>
              </a:rPr>
              <a:t> información basado en arquitectura orientada a microservicios. </a:t>
            </a:r>
            <a:endParaRPr b="1" sz="1800">
              <a:solidFill>
                <a:srgbClr val="0000FF"/>
              </a:solidFill>
            </a:endParaRPr>
          </a:p>
          <a:p>
            <a:pPr indent="0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6576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/>
              <a:t>G</a:t>
            </a:r>
            <a:r>
              <a:rPr b="1" lang="es-MX" sz="1800"/>
              <a:t>estión del</a:t>
            </a:r>
            <a:r>
              <a:rPr b="1" lang="es-MX" sz="1800"/>
              <a:t> alistamiento, mantenimiento y calidad</a:t>
            </a:r>
            <a:r>
              <a:rPr lang="es-MX" sz="1800"/>
              <a:t> de la flota automotriz de </a:t>
            </a:r>
            <a:r>
              <a:rPr b="1" lang="es-MX" sz="1800"/>
              <a:t>IC-Colombia</a:t>
            </a:r>
            <a:r>
              <a:rPr lang="es-MX" sz="1800"/>
              <a:t>, que centralice la operación de taller, automatice el control documental y asegure la integridad de los datos bajo </a:t>
            </a:r>
            <a:r>
              <a:rPr b="1" lang="es-MX" sz="1800">
                <a:solidFill>
                  <a:srgbClr val="0000FF"/>
                </a:solidFill>
              </a:rPr>
              <a:t>estándares ISO</a:t>
            </a:r>
            <a:r>
              <a:rPr lang="es-MX" sz="1800"/>
              <a:t> </a:t>
            </a:r>
            <a:r>
              <a:rPr b="1" lang="es-MX" sz="1800"/>
              <a:t>c</a:t>
            </a:r>
            <a:r>
              <a:rPr b="1" lang="es-MX" sz="1800"/>
              <a:t>entralizando la documentación técnica</a:t>
            </a:r>
            <a:r>
              <a:rPr lang="es-MX" sz="1800"/>
              <a:t> en un repositorio digital seguro, permitiendo que la </a:t>
            </a:r>
            <a:r>
              <a:rPr b="1" lang="es-MX" sz="1800"/>
              <a:t>evidencia para auditorías</a:t>
            </a:r>
            <a:r>
              <a:rPr lang="es-MX" sz="1800"/>
              <a:t> </a:t>
            </a:r>
            <a:r>
              <a:rPr b="1" lang="es-MX" sz="1800"/>
              <a:t>de calidad</a:t>
            </a:r>
            <a:r>
              <a:rPr lang="es-MX" sz="1800"/>
              <a:t> sea accesible de forma inmediata y veraz.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8" name="Google Shape;138;g3973de710b4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581449" y="1431475"/>
            <a:ext cx="5525751" cy="46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3de710b4_0_116"/>
          <p:cNvSpPr txBox="1"/>
          <p:nvPr/>
        </p:nvSpPr>
        <p:spPr>
          <a:xfrm>
            <a:off x="897925" y="300350"/>
            <a:ext cx="113838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200"/>
              <a:buFont typeface="Work Sans Light"/>
              <a:buNone/>
            </a:pPr>
            <a:r>
              <a:rPr b="1" i="0" lang="es-MX" sz="32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Específicos del p</a:t>
            </a:r>
            <a:r>
              <a:rPr b="1" lang="es-MX" sz="32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roducto software. 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45" name="Google Shape;145;g3973de710b4_0_116"/>
          <p:cNvSpPr/>
          <p:nvPr/>
        </p:nvSpPr>
        <p:spPr>
          <a:xfrm>
            <a:off x="897925" y="910946"/>
            <a:ext cx="3911100" cy="180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973de710b4_0_116"/>
          <p:cNvSpPr txBox="1"/>
          <p:nvPr/>
        </p:nvSpPr>
        <p:spPr>
          <a:xfrm>
            <a:off x="0" y="1712550"/>
            <a:ext cx="122817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0000FF"/>
                </a:solidFill>
              </a:rPr>
              <a:t>Diseñar la arquitectura del software por microservicios,</a:t>
            </a:r>
            <a:r>
              <a:rPr b="1" lang="es-MX" sz="1600">
                <a:solidFill>
                  <a:schemeClr val="dk1"/>
                </a:solidFill>
              </a:rPr>
              <a:t> que </a:t>
            </a:r>
            <a:r>
              <a:rPr b="1" lang="es-MX" sz="1600">
                <a:solidFill>
                  <a:schemeClr val="dk1"/>
                </a:solidFill>
              </a:rPr>
              <a:t>defina</a:t>
            </a:r>
            <a:r>
              <a:rPr b="1" lang="es-MX" sz="1600">
                <a:solidFill>
                  <a:schemeClr val="dk1"/>
                </a:solidFill>
              </a:rPr>
              <a:t> el flujo de la </a:t>
            </a:r>
            <a:r>
              <a:rPr b="1" lang="es-MX" sz="1600">
                <a:solidFill>
                  <a:schemeClr val="dk1"/>
                </a:solidFill>
              </a:rPr>
              <a:t>información recopilada y las tecnologías implicadas en la gestión de los datos de manera que se corresponda con el diagrama de procesos de la empresa IC-COLOMBIA.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0000FF"/>
                </a:solidFill>
              </a:rPr>
              <a:t>Diseñar la interfaz del usuario</a:t>
            </a:r>
            <a:r>
              <a:rPr b="1" lang="es-MX" sz="1600">
                <a:solidFill>
                  <a:schemeClr val="dk1"/>
                </a:solidFill>
              </a:rPr>
              <a:t> de manera que permita acceso mediante navegador web y app.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0000FF"/>
                </a:solidFill>
              </a:rPr>
              <a:t>Diseñar el módulo de control de seguridad</a:t>
            </a:r>
            <a:r>
              <a:rPr b="1" lang="es-MX" sz="1600">
                <a:solidFill>
                  <a:schemeClr val="dk1"/>
                </a:solidFill>
              </a:rPr>
              <a:t>, de manera que solo los roles autorizados por procesos puedan tener acceso al sistema de recopilación de la información.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0000FF"/>
                </a:solidFill>
              </a:rPr>
              <a:t>Diseñar el módulo de control de procesos</a:t>
            </a:r>
            <a:r>
              <a:rPr b="1" lang="es-MX" sz="1600">
                <a:solidFill>
                  <a:schemeClr val="dk1"/>
                </a:solidFill>
              </a:rPr>
              <a:t>, priorizando el </a:t>
            </a:r>
            <a:r>
              <a:rPr b="1" lang="es-MX" sz="1600"/>
              <a:t>Registro de OTs, Control de Inventarios, Seguimiento de KPIs y Gestión Documental) integrando las "Reglas de Negocio" (Hard Constraints) que impidan la regresión de horometros y el cierre de procesos sin evidencia.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0000FF"/>
                </a:solidFill>
              </a:rPr>
              <a:t>Diseñar el módulo de control de base de datos, </a:t>
            </a:r>
            <a:r>
              <a:rPr b="1" lang="es-MX" sz="1600">
                <a:solidFill>
                  <a:schemeClr val="dk1"/>
                </a:solidFill>
              </a:rPr>
              <a:t>de manera que permita la administración de las 7 BD (microservicios) mediante el uso de tecnología de fachadas exclusivas para cada rol de usuario y proceso.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MX" sz="1600">
                <a:solidFill>
                  <a:srgbClr val="0000FF"/>
                </a:solidFill>
              </a:rPr>
              <a:t>Validar el sistema mediante pruebas de software</a:t>
            </a:r>
            <a:r>
              <a:rPr lang="es-MX" sz="1600"/>
              <a:t> basadas en la norma </a:t>
            </a:r>
            <a:r>
              <a:rPr b="1" lang="es-MX" sz="1600"/>
              <a:t>ISO/IEC 25000 (SQuaRE)</a:t>
            </a:r>
            <a:r>
              <a:rPr lang="es-MX" sz="1600"/>
              <a:t>, evaluando la eficiencia de desempeño, la seguridad y la fiabilidad de la plataforma.</a:t>
            </a:r>
            <a:r>
              <a:rPr b="1" lang="es-MX" sz="1600">
                <a:solidFill>
                  <a:srgbClr val="0000FF"/>
                </a:solidFill>
              </a:rPr>
              <a:t> </a:t>
            </a:r>
            <a:endParaRPr b="1" sz="16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456228" y="110475"/>
            <a:ext cx="765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</a:t>
            </a:r>
            <a:endParaRPr sz="6000"/>
          </a:p>
        </p:txBody>
      </p:sp>
      <p:sp>
        <p:nvSpPr>
          <p:cNvPr id="152" name="Google Shape;152;p7"/>
          <p:cNvSpPr txBox="1"/>
          <p:nvPr/>
        </p:nvSpPr>
        <p:spPr>
          <a:xfrm>
            <a:off x="254004" y="1729651"/>
            <a:ext cx="115815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0000FF"/>
                </a:solidFill>
              </a:rPr>
              <a:t>El diseño e </a:t>
            </a:r>
            <a:r>
              <a:rPr b="1" lang="es-MX" sz="1500">
                <a:solidFill>
                  <a:srgbClr val="0000FF"/>
                </a:solidFill>
              </a:rPr>
              <a:t>implementación del Sistema Integrado software A.M</a:t>
            </a:r>
            <a:r>
              <a:rPr lang="es-MX" sz="1500">
                <a:solidFill>
                  <a:srgbClr val="0000FF"/>
                </a:solidFill>
              </a:rPr>
              <a:t> </a:t>
            </a:r>
            <a:r>
              <a:rPr lang="es-MX" sz="1500"/>
              <a:t>no es solo una</a:t>
            </a:r>
            <a:r>
              <a:rPr b="1" lang="es-MX" sz="1500"/>
              <a:t> actualización tecnológica</a:t>
            </a:r>
            <a:r>
              <a:rPr lang="es-MX" sz="1500"/>
              <a:t>, es una respuesta estratégica a la necesidad de</a:t>
            </a:r>
            <a:r>
              <a:rPr b="1" lang="es-MX" sz="1500">
                <a:solidFill>
                  <a:srgbClr val="FF0000"/>
                </a:solidFill>
              </a:rPr>
              <a:t> sostenibilidad operativa y cumplimiento normativo</a:t>
            </a:r>
            <a:r>
              <a:rPr lang="es-MX" sz="1500"/>
              <a:t> para </a:t>
            </a:r>
            <a:r>
              <a:rPr b="1" lang="es-MX" sz="1500"/>
              <a:t>IC-Colombia</a:t>
            </a:r>
            <a:r>
              <a:rPr lang="es-MX" sz="1500"/>
              <a:t>. </a:t>
            </a:r>
            <a:br>
              <a:rPr lang="es-MX" sz="1500"/>
            </a:br>
            <a:r>
              <a:rPr lang="es-MX" sz="1500"/>
              <a:t>La justificación de este proyecto se basa en cuatro pilares: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/>
              <a:t>Reducción del "Costo de No-Calidad":</a:t>
            </a:r>
            <a:r>
              <a:rPr lang="es-MX" sz="1500"/>
              <a:t> Actualmente, la falta de trazabilidad en los horómetros y el historial de mantenimiento provoca </a:t>
            </a:r>
            <a:r>
              <a:rPr b="1" lang="es-MX" sz="1500">
                <a:solidFill>
                  <a:srgbClr val="FF0000"/>
                </a:solidFill>
              </a:rPr>
              <a:t>fallas repetitivas en los vehículos</a:t>
            </a:r>
            <a:r>
              <a:rPr lang="es-MX" sz="1500"/>
              <a:t>. Cada día que un equipo permanece fuera de servicio por un diagnóstico errado o falta de repuestos representa una </a:t>
            </a:r>
            <a:r>
              <a:rPr b="1" lang="es-MX" sz="1500">
                <a:solidFill>
                  <a:srgbClr val="FF0000"/>
                </a:solidFill>
              </a:rPr>
              <a:t>pérdida económica directa</a:t>
            </a:r>
            <a:r>
              <a:rPr lang="es-MX" sz="1500"/>
              <a:t>. </a:t>
            </a:r>
            <a:r>
              <a:rPr b="1" lang="es-MX" sz="1500">
                <a:solidFill>
                  <a:srgbClr val="0000FF"/>
                </a:solidFill>
              </a:rPr>
              <a:t>El sistema automatizado permitirá optimizar el MTTR (Tiempo Medio de Reparación)</a:t>
            </a:r>
            <a:r>
              <a:rPr lang="es-MX" sz="1500"/>
              <a:t>, maximizando la disponibilidad de la flota.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>
                <a:solidFill>
                  <a:schemeClr val="dk1"/>
                </a:solidFill>
              </a:rPr>
              <a:t>Blindaje Normativo y Trazabilidad:</a:t>
            </a:r>
            <a:r>
              <a:rPr lang="es-MX" sz="1500"/>
              <a:t> Bajo la norma </a:t>
            </a:r>
            <a:r>
              <a:rPr b="1" lang="es-MX" sz="1500"/>
              <a:t>ISO 9001:2015</a:t>
            </a:r>
            <a:r>
              <a:rPr lang="es-MX" sz="1500"/>
              <a:t>, </a:t>
            </a:r>
            <a:r>
              <a:rPr b="1" lang="es-MX" sz="1500">
                <a:solidFill>
                  <a:srgbClr val="FF0000"/>
                </a:solidFill>
              </a:rPr>
              <a:t>la empresa debe garantizar la integridad de su información documentada</a:t>
            </a:r>
            <a:r>
              <a:rPr lang="es-MX" sz="1500"/>
              <a:t>. </a:t>
            </a:r>
            <a:r>
              <a:rPr b="1" lang="es-MX" sz="1500">
                <a:solidFill>
                  <a:srgbClr val="0000FF"/>
                </a:solidFill>
              </a:rPr>
              <a:t>Este software eliminara el riesgo de pérdida de registros físicos</a:t>
            </a:r>
            <a:r>
              <a:rPr lang="es-MX" sz="1500"/>
              <a:t>, lo que ante una </a:t>
            </a:r>
            <a:r>
              <a:rPr b="1" lang="es-MX" sz="1500"/>
              <a:t>auditoría, la evidencia de mantenimiento, calibración y satisfacción del cliente</a:t>
            </a:r>
            <a:r>
              <a:rPr lang="es-MX" sz="1500"/>
              <a:t> esté disponible  (de forma inmediata y veraz.</a:t>
            </a:r>
            <a:br>
              <a:rPr lang="es-MX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>
                <a:solidFill>
                  <a:schemeClr val="dk1"/>
                </a:solidFill>
              </a:rPr>
              <a:t>Seguridad y Confiabilidad Técnica:</a:t>
            </a:r>
            <a:r>
              <a:rPr lang="es-MX" sz="1500"/>
              <a:t> Al transportar materiales peligrosos (ACPM), el estado mecánico de los carrotanques es una </a:t>
            </a:r>
            <a:r>
              <a:rPr b="1" lang="es-MX" sz="1500">
                <a:solidFill>
                  <a:srgbClr val="FF0000"/>
                </a:solidFill>
              </a:rPr>
              <a:t>prioridad de seguridad nacional y ambiental</a:t>
            </a:r>
            <a:r>
              <a:rPr lang="es-MX" sz="1500"/>
              <a:t>. </a:t>
            </a:r>
            <a:r>
              <a:rPr b="1" lang="es-MX" sz="1500">
                <a:solidFill>
                  <a:srgbClr val="0000FF"/>
                </a:solidFill>
              </a:rPr>
              <a:t>El software mediante alertas preventivas asegurara el cumplimiento de las reglas de negocio, se minimiza el riesgo de accidentes</a:t>
            </a:r>
            <a:r>
              <a:rPr lang="es-MX" sz="1500"/>
              <a:t> por fallas mecánicas evitables.</a:t>
            </a:r>
            <a:br>
              <a:rPr lang="es-MX" sz="1500"/>
            </a:br>
            <a:endParaRPr sz="1500"/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s-MX" sz="1500"/>
              <a:t>El Control de Inventarios en Tiempo Real:</a:t>
            </a:r>
            <a:r>
              <a:rPr lang="es-MX" sz="1500">
                <a:solidFill>
                  <a:schemeClr val="dk1"/>
                </a:solidFill>
              </a:rPr>
              <a:t> </a:t>
            </a:r>
            <a:r>
              <a:rPr lang="es-MX" sz="1500">
                <a:solidFill>
                  <a:srgbClr val="0C0C0C"/>
                </a:solidFill>
              </a:rPr>
              <a:t>permitirá </a:t>
            </a:r>
            <a:r>
              <a:rPr b="1" lang="es-MX" sz="1500">
                <a:solidFill>
                  <a:srgbClr val="FF0000"/>
                </a:solidFill>
              </a:rPr>
              <a:t>gestionar mejor los recursos,</a:t>
            </a:r>
            <a:r>
              <a:rPr lang="es-MX" sz="1500">
                <a:solidFill>
                  <a:srgbClr val="0C0C0C"/>
                </a:solidFill>
              </a:rPr>
              <a:t> </a:t>
            </a:r>
            <a:r>
              <a:rPr b="1" lang="es-MX" sz="1500">
                <a:solidFill>
                  <a:srgbClr val="0000FF"/>
                </a:solidFill>
              </a:rPr>
              <a:t>el sistema permitira conocer las existencias con precisión y tomar decisiones oportunas, evitando </a:t>
            </a:r>
            <a:r>
              <a:rPr b="1" lang="es-MX" sz="1500">
                <a:solidFill>
                  <a:srgbClr val="FF0000"/>
                </a:solidFill>
              </a:rPr>
              <a:t>pérdidas, sobrecostos y desabastecimientos.</a:t>
            </a:r>
            <a:endParaRPr sz="3500">
              <a:solidFill>
                <a:srgbClr val="FF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53" name="Google Shape;153;p7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456229" y="110475"/>
            <a:ext cx="648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</a:t>
            </a:r>
            <a:endParaRPr sz="6000"/>
          </a:p>
        </p:txBody>
      </p:sp>
      <p:pic>
        <p:nvPicPr>
          <p:cNvPr id="160" name="Google Shape;160;p9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73782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9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527800" y="185575"/>
            <a:ext cx="1385725" cy="11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3325" y="1522149"/>
            <a:ext cx="3488675" cy="28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1062400" y="1613650"/>
            <a:ext cx="71451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s-MX" sz="1500"/>
              <a:t>Alcance del proyecto:</a:t>
            </a:r>
            <a:br>
              <a:rPr b="1" lang="es-MX" sz="1300"/>
            </a:br>
            <a:r>
              <a:rPr b="1" lang="es-MX" sz="1300"/>
              <a:t>Centralizar, automatizar y asegurar</a:t>
            </a:r>
            <a:r>
              <a:rPr lang="es-MX" sz="1300"/>
              <a:t> la gestión de alistamiento y mantenimiento de la flota mediante un sistema integrado de información que garantice la integridad de los datos bajo estándares </a:t>
            </a:r>
            <a:r>
              <a:rPr b="1" lang="es-MX" sz="1300"/>
              <a:t>ISO</a:t>
            </a:r>
            <a:r>
              <a:rPr lang="es-MX" sz="1300"/>
              <a:t>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s-MX" sz="1500"/>
              <a:t>Alcance del producto: </a:t>
            </a:r>
            <a:br>
              <a:rPr lang="es-MX" sz="1300"/>
            </a:br>
            <a:r>
              <a:rPr lang="es-MX" sz="1300"/>
              <a:t>El </a:t>
            </a:r>
            <a:r>
              <a:rPr b="1" lang="es-MX" sz="1300"/>
              <a:t>Sistema Integrado Software A.M</a:t>
            </a:r>
            <a:r>
              <a:rPr lang="es-MX" sz="1300"/>
              <a:t> cubre el ciclo de vida completo del mantenimiento, desde la recepción del equipo hasta la entrega final al cliente. Integra operativamente las 7 bases de datos maestras, permitiendo la gestión de activos, el control de inventarios, la administración de personal técnico y el seguimiento de la satisfacción del cliente.  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1100"/>
          </a:p>
        </p:txBody>
      </p:sp>
      <p:graphicFrame>
        <p:nvGraphicFramePr>
          <p:cNvPr id="164" name="Google Shape;164;p9"/>
          <p:cNvGraphicFramePr/>
          <p:nvPr/>
        </p:nvGraphicFramePr>
        <p:xfrm>
          <a:off x="412025" y="416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{34241FF6-7387-43FA-BE95-B02002638E6E}</a:tableStyleId>
              </a:tblPr>
              <a:tblGrid>
                <a:gridCol w="1001400"/>
                <a:gridCol w="2333300"/>
                <a:gridCol w="3004225"/>
                <a:gridCol w="3004225"/>
              </a:tblGrid>
              <a:tr h="28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No.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Resultado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Alcance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Impacto</a:t>
                      </a:r>
                      <a:endParaRPr sz="10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Software CMMS "Sistema Integrado"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Automatización total de los 13 procesos de mantenimiento y calidad.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Técnico: 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Eliminación del error humano en la captura de datos (D1).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de Datos Centralizada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Interconexión de las 7 bases de datos maestras en tiempo real.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Económico: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Reducción del 15% en costos por fallas repetitivas.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Módulo de Cumplimiento ISO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Generación automática de evidencias para auditorías ISO 9001.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Social/Calidad: 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Blindaje legal y normativo ante entes certificadores.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Dashboard de KPIs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Visualización de MTTR/MTBF para la toma de decisiones gerenciales.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Económico:</a:t>
                      </a:r>
                      <a:r>
                        <a:rPr lang="es-MX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Optimización de la disponibilidad de la flota de carrotanques.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71748a97e_0_2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solidFill>
                  <a:schemeClr val="lt1"/>
                </a:solidFill>
              </a:rPr>
              <a:t>DIAGRAMA DE GANT (</a:t>
            </a:r>
            <a:r>
              <a:rPr lang="es-MX" sz="32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Entregables Proyecto Formativo por Trimestre)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71" name="Google Shape;171;g3971748a97e_0_2"/>
          <p:cNvGraphicFramePr/>
          <p:nvPr/>
        </p:nvGraphicFramePr>
        <p:xfrm>
          <a:off x="406625" y="15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{34241FF6-7387-43FA-BE95-B02002638E6E}</a:tableStyleId>
              </a:tblPr>
              <a:tblGrid>
                <a:gridCol w="1588725"/>
                <a:gridCol w="2978875"/>
                <a:gridCol w="992950"/>
                <a:gridCol w="992950"/>
                <a:gridCol w="992950"/>
                <a:gridCol w="992950"/>
                <a:gridCol w="992950"/>
                <a:gridCol w="992950"/>
                <a:gridCol w="992950"/>
              </a:tblGrid>
              <a:tr h="15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Fase / Eje Temático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Documento Entregable (ADSO)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T1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T2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T3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T4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T5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T6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T7</a:t>
                      </a:r>
                      <a:endParaRPr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ANÁLISIS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 de Proyecto (PL01)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Levantamiento de Información (Técnicas e Instrumentos)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Procesos (Macroproceso y Subprocesos)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Especificación de Requisitos (IEEE-830 / Historias de Usuario)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Casos de Uso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Casos de Uso Extendido (Narrativa)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DISEÑO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Diagrama de Clases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Entidad Relación (MER)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Relacional (MR)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Diccionario de Datos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Prototipo No Funcional (Maquetas/Wireframes)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Patrón de Diseño (Arquitectura de Software)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Planeación de Pruebas (Plan de Pruebas de Software)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DESARROLLO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Script de la BBDD (Completo)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Sentencias DDL (Definición de Datos)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Consultas DML (Manipulación de Datos)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Automatización de la BBDD (Triggers / Procedimientos)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Información Web – Servidor Local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Configuración del Servidor de BBDD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Ejecución de Pruebas (Resultados y Ajustes)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IMPLANTACIÓN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Información Web – Servidor Externo (Hosting)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Configuración del Servidor de Aplicaciones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de Instalación y Configuración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de Usuario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6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■</a:t>
                      </a:r>
                      <a:endParaRPr sz="6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456229" y="110475"/>
            <a:ext cx="6414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 sz="6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Delimitación</a:t>
            </a:r>
            <a:endParaRPr sz="6000"/>
          </a:p>
        </p:txBody>
      </p:sp>
      <p:pic>
        <p:nvPicPr>
          <p:cNvPr id="177" name="Google Shape;177;p10" title="WhatsApp Image 2026-04-01 at 7.46.31 PM.jpeg"/>
          <p:cNvPicPr preferRelativeResize="0"/>
          <p:nvPr/>
        </p:nvPicPr>
        <p:blipFill rotWithShape="1">
          <a:blip r:embed="rId3">
            <a:alphaModFix/>
          </a:blip>
          <a:srcRect b="5552" l="3120" r="2630" t="10836"/>
          <a:stretch/>
        </p:blipFill>
        <p:spPr>
          <a:xfrm>
            <a:off x="7602500" y="279030"/>
            <a:ext cx="1748914" cy="96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0" title="logo-banner.png"/>
          <p:cNvPicPr preferRelativeResize="0"/>
          <p:nvPr/>
        </p:nvPicPr>
        <p:blipFill rotWithShape="1">
          <a:blip r:embed="rId4">
            <a:alphaModFix/>
          </a:blip>
          <a:srcRect b="0" l="22536" r="18376" t="0"/>
          <a:stretch/>
        </p:blipFill>
        <p:spPr>
          <a:xfrm>
            <a:off x="9418999" y="185575"/>
            <a:ext cx="1325201" cy="115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86725" y="2621020"/>
            <a:ext cx="3106176" cy="251861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0"/>
          <p:cNvSpPr txBox="1"/>
          <p:nvPr/>
        </p:nvSpPr>
        <p:spPr>
          <a:xfrm>
            <a:off x="388075" y="2108150"/>
            <a:ext cx="7797300" cy="3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700"/>
              <a:t>Delimitación Técnica</a:t>
            </a:r>
            <a:r>
              <a:rPr lang="es-MX" sz="1700"/>
              <a:t> </a:t>
            </a:r>
            <a:br>
              <a:rPr lang="es-MX" sz="1700"/>
            </a:br>
            <a:r>
              <a:rPr lang="es-MX" sz="1700"/>
              <a:t>La plataforma está diseñada para la </a:t>
            </a:r>
            <a:r>
              <a:rPr b="1" lang="es-MX" sz="1700">
                <a:solidFill>
                  <a:srgbClr val="0000FF"/>
                </a:solidFill>
              </a:rPr>
              <a:t>gestión técnica y operativa del taller</a:t>
            </a:r>
            <a:r>
              <a:rPr lang="es-MX" sz="1700"/>
              <a:t>, por lo cual </a:t>
            </a:r>
            <a:r>
              <a:rPr b="1" lang="es-MX" sz="1700">
                <a:solidFill>
                  <a:srgbClr val="FF0000"/>
                </a:solidFill>
              </a:rPr>
              <a:t>no incluye módulos de contabilidad financiera ni liquidación de nómina</a:t>
            </a:r>
            <a:r>
              <a:rPr lang="es-MX" sz="1700"/>
              <a:t>, aunque permite la exportación de datos compatibles con dichos sistemas. El software operará bajo una </a:t>
            </a:r>
            <a:r>
              <a:rPr b="1" lang="es-MX" sz="1700">
                <a:solidFill>
                  <a:srgbClr val="0000FF"/>
                </a:solidFill>
              </a:rPr>
              <a:t>arquitectura web para administración y una interfaz móvil optimizada para los técnicos en campo</a:t>
            </a:r>
            <a:r>
              <a:rPr lang="es-MX" sz="1700"/>
              <a:t>.</a:t>
            </a:r>
            <a:endParaRPr sz="2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 matrices del anexo 1: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MASTER PROCESOS ALISTAMIENTO Y MANTENIMIENTO + CALIDAD + REQUISITOS</a:t>
            </a:r>
            <a:endParaRPr b="1"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de80997d_0_0"/>
          <p:cNvSpPr txBox="1"/>
          <p:nvPr>
            <p:ph type="title"/>
          </p:nvPr>
        </p:nvSpPr>
        <p:spPr>
          <a:xfrm>
            <a:off x="764175" y="27661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ESTIMACIÓN</a:t>
            </a:r>
            <a:r>
              <a:rPr lang="es-MX"/>
              <a:t> DE COSTOS POR SCRUM </a:t>
            </a:r>
            <a:br>
              <a:rPr lang="es-MX"/>
            </a:br>
            <a:r>
              <a:rPr lang="es-MX" u="sng">
                <a:solidFill>
                  <a:schemeClr val="hlink"/>
                </a:solidFill>
                <a:hlinkClick r:id="rId3"/>
              </a:rPr>
              <a:t>ESTIMACION DE COSTOS SCRUM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Zae Redfield</dc:creator>
</cp:coreProperties>
</file>