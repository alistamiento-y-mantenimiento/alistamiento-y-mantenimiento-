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Work Sans Medium"/>
      <p:regular r:id="rId22"/>
      <p:bold r:id="rId23"/>
      <p:italic r:id="rId24"/>
      <p:boldItalic r:id="rId25"/>
    </p:embeddedFont>
    <p:embeddedFont>
      <p:font typeface="Work Sans"/>
      <p:regular r:id="rId26"/>
      <p:bold r:id="rId27"/>
      <p:italic r:id="rId28"/>
      <p:boldItalic r:id="rId29"/>
    </p:embeddedFont>
    <p:embeddedFont>
      <p:font typeface="Work Sans Light"/>
      <p:regular r:id="rId30"/>
      <p:bold r:id="rId31"/>
      <p:italic r:id="rId32"/>
      <p:boldItalic r:id="rId33"/>
    </p:embeddedFont>
    <p:embeddedFont>
      <p:font typeface="Merriweather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j/S2dgD9dQL38tfnC7pBYEeJMgu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Sánchez Gómez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9C5738F-8AE1-4E33-BC60-913B255D28DC}">
  <a:tblStyle styleId="{09C5738F-8AE1-4E33-BC60-913B255D28D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WorkSansMedium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WorkSansMedium-italic.fntdata"/><Relationship Id="rId23" Type="http://schemas.openxmlformats.org/officeDocument/2006/relationships/font" Target="fonts/WorkSansMedium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font" Target="fonts/WorkSans-regular.fntdata"/><Relationship Id="rId25" Type="http://schemas.openxmlformats.org/officeDocument/2006/relationships/font" Target="fonts/WorkSansMedium-boldItalic.fntdata"/><Relationship Id="rId28" Type="http://schemas.openxmlformats.org/officeDocument/2006/relationships/font" Target="fonts/WorkSans-italic.fntdata"/><Relationship Id="rId27" Type="http://schemas.openxmlformats.org/officeDocument/2006/relationships/font" Target="fonts/Work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Work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WorkSansLight-bold.fntdata"/><Relationship Id="rId30" Type="http://schemas.openxmlformats.org/officeDocument/2006/relationships/font" Target="fonts/WorkSansLight-regular.fntdata"/><Relationship Id="rId11" Type="http://schemas.openxmlformats.org/officeDocument/2006/relationships/slide" Target="slides/slide5.xml"/><Relationship Id="rId33" Type="http://schemas.openxmlformats.org/officeDocument/2006/relationships/font" Target="fonts/WorkSansLight-boldItalic.fntdata"/><Relationship Id="rId10" Type="http://schemas.openxmlformats.org/officeDocument/2006/relationships/slide" Target="slides/slide4.xml"/><Relationship Id="rId32" Type="http://schemas.openxmlformats.org/officeDocument/2006/relationships/font" Target="fonts/WorkSansLight-italic.fntdata"/><Relationship Id="rId13" Type="http://schemas.openxmlformats.org/officeDocument/2006/relationships/slide" Target="slides/slide7.xml"/><Relationship Id="rId35" Type="http://schemas.openxmlformats.org/officeDocument/2006/relationships/font" Target="fonts/Merriweather-bold.fntdata"/><Relationship Id="rId12" Type="http://schemas.openxmlformats.org/officeDocument/2006/relationships/slide" Target="slides/slide6.xml"/><Relationship Id="rId34" Type="http://schemas.openxmlformats.org/officeDocument/2006/relationships/font" Target="fonts/Merriweather-regular.fntdata"/><Relationship Id="rId15" Type="http://schemas.openxmlformats.org/officeDocument/2006/relationships/slide" Target="slides/slide9.xml"/><Relationship Id="rId37" Type="http://schemas.openxmlformats.org/officeDocument/2006/relationships/font" Target="fonts/Merriweather-boldItalic.fntdata"/><Relationship Id="rId14" Type="http://schemas.openxmlformats.org/officeDocument/2006/relationships/slide" Target="slides/slide8.xml"/><Relationship Id="rId36" Type="http://schemas.openxmlformats.org/officeDocument/2006/relationships/font" Target="fonts/Merriweather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customschemas.google.com/relationships/presentationmetadata" Target="metadata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4-09T17:32:09.265">
    <p:pos x="6000" y="0"/>
    <p:text>Dejar por el momento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5VbOf2A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71748a97e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971748a97e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971748a97e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de título">
  <p:cSld name="1_Diapositiva de título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, Aplicación&#10;&#10;Descripción generada automáticamente" id="14" name="Google Shape;1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Encabezado de sección">
  <p:cSld name="1_Encabezado de sección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27833" y="317431"/>
            <a:ext cx="811390" cy="79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Encabezado de sección">
  <p:cSld name="2_Encabezado de sección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rón de fondo&#10;&#10;Descripción generada automáticamente" id="18" name="Google Shape;1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859" y="303050"/>
            <a:ext cx="855785" cy="833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/>
          <p:nvPr/>
        </p:nvSpPr>
        <p:spPr>
          <a:xfrm>
            <a:off x="-167" y="0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9" name="Google Shape;29;p19"/>
          <p:cNvSpPr txBox="1"/>
          <p:nvPr>
            <p:ph type="ctrTitle"/>
          </p:nvPr>
        </p:nvSpPr>
        <p:spPr>
          <a:xfrm>
            <a:off x="415600" y="719633"/>
            <a:ext cx="113607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19"/>
          <p:cNvSpPr txBox="1"/>
          <p:nvPr>
            <p:ph idx="1" type="subTitle"/>
          </p:nvPr>
        </p:nvSpPr>
        <p:spPr>
          <a:xfrm>
            <a:off x="415600" y="2504747"/>
            <a:ext cx="56568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1" name="Google Shape;31;p1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0"/>
          <p:cNvSpPr/>
          <p:nvPr/>
        </p:nvSpPr>
        <p:spPr>
          <a:xfrm>
            <a:off x="0" y="64132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34" name="Google Shape;34;p20"/>
          <p:cNvSpPr/>
          <p:nvPr/>
        </p:nvSpPr>
        <p:spPr>
          <a:xfrm>
            <a:off x="0" y="0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35" name="Google Shape;35;p20"/>
          <p:cNvSpPr txBox="1"/>
          <p:nvPr>
            <p:ph type="title"/>
          </p:nvPr>
        </p:nvSpPr>
        <p:spPr>
          <a:xfrm>
            <a:off x="415600" y="719633"/>
            <a:ext cx="113607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/>
          <p:nvPr/>
        </p:nvSpPr>
        <p:spPr>
          <a:xfrm>
            <a:off x="0" y="0"/>
            <a:ext cx="57519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1"/>
          <p:cNvSpPr/>
          <p:nvPr/>
        </p:nvSpPr>
        <p:spPr>
          <a:xfrm>
            <a:off x="0" y="58833"/>
            <a:ext cx="5751356" cy="5865687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0" name="Google Shape;40;p21"/>
          <p:cNvSpPr/>
          <p:nvPr/>
        </p:nvSpPr>
        <p:spPr>
          <a:xfrm>
            <a:off x="-167" y="0"/>
            <a:ext cx="5755723" cy="5860653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41" name="Google Shape;41;p21"/>
          <p:cNvSpPr txBox="1"/>
          <p:nvPr>
            <p:ph type="title"/>
          </p:nvPr>
        </p:nvSpPr>
        <p:spPr>
          <a:xfrm>
            <a:off x="415633" y="667900"/>
            <a:ext cx="4941900" cy="3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6192900" y="667900"/>
            <a:ext cx="5555100" cy="54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/>
          <p:nvPr/>
        </p:nvSpPr>
        <p:spPr>
          <a:xfrm>
            <a:off x="0" y="0"/>
            <a:ext cx="12192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2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2"/>
          <p:cNvSpPr txBox="1"/>
          <p:nvPr>
            <p:ph idx="1" type="body"/>
          </p:nvPr>
        </p:nvSpPr>
        <p:spPr>
          <a:xfrm>
            <a:off x="415600" y="2007600"/>
            <a:ext cx="5333100" cy="4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2" type="body"/>
          </p:nvPr>
        </p:nvSpPr>
        <p:spPr>
          <a:xfrm>
            <a:off x="6443200" y="2007600"/>
            <a:ext cx="5333100" cy="4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/>
          <p:nvPr/>
        </p:nvSpPr>
        <p:spPr>
          <a:xfrm>
            <a:off x="0" y="0"/>
            <a:ext cx="12192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3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/>
          <p:nvPr/>
        </p:nvSpPr>
        <p:spPr>
          <a:xfrm>
            <a:off x="0" y="0"/>
            <a:ext cx="50193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4"/>
          <p:cNvSpPr txBox="1"/>
          <p:nvPr>
            <p:ph type="title"/>
          </p:nvPr>
        </p:nvSpPr>
        <p:spPr>
          <a:xfrm>
            <a:off x="415633" y="667900"/>
            <a:ext cx="4170000" cy="24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24"/>
          <p:cNvSpPr txBox="1"/>
          <p:nvPr>
            <p:ph idx="1" type="body"/>
          </p:nvPr>
        </p:nvSpPr>
        <p:spPr>
          <a:xfrm>
            <a:off x="415600" y="3187533"/>
            <a:ext cx="4170000" cy="30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  <a:defRPr>
                <a:solidFill>
                  <a:schemeClr val="accent2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8" name="Google Shape;58;p2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5"/>
          <p:cNvSpPr txBox="1"/>
          <p:nvPr>
            <p:ph type="title"/>
          </p:nvPr>
        </p:nvSpPr>
        <p:spPr>
          <a:xfrm>
            <a:off x="415567" y="1064800"/>
            <a:ext cx="8330400" cy="47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1" name="Google Shape;61;p2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6"/>
          <p:cNvSpPr txBox="1"/>
          <p:nvPr>
            <p:ph type="title"/>
          </p:nvPr>
        </p:nvSpPr>
        <p:spPr>
          <a:xfrm>
            <a:off x="415067" y="667900"/>
            <a:ext cx="4939200" cy="27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26"/>
          <p:cNvSpPr txBox="1"/>
          <p:nvPr>
            <p:ph idx="1" type="subTitle"/>
          </p:nvPr>
        </p:nvSpPr>
        <p:spPr>
          <a:xfrm>
            <a:off x="406400" y="3502300"/>
            <a:ext cx="49392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6" name="Google Shape;66;p26"/>
          <p:cNvSpPr txBox="1"/>
          <p:nvPr>
            <p:ph idx="2" type="body"/>
          </p:nvPr>
        </p:nvSpPr>
        <p:spPr>
          <a:xfrm>
            <a:off x="6505367" y="667900"/>
            <a:ext cx="5271900" cy="54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/>
          <p:nvPr/>
        </p:nvSpPr>
        <p:spPr>
          <a:xfrm>
            <a:off x="0" y="5825333"/>
            <a:ext cx="12192000" cy="103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>
            <a:off x="415600" y="6028533"/>
            <a:ext cx="106392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hasCustomPrompt="1" type="title"/>
          </p:nvPr>
        </p:nvSpPr>
        <p:spPr>
          <a:xfrm>
            <a:off x="415667" y="1108233"/>
            <a:ext cx="7113300" cy="16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>
            <a:off x="415600" y="2828567"/>
            <a:ext cx="7113300" cy="12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  <a:defRPr>
                <a:solidFill>
                  <a:schemeClr val="accent2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75" name="Google Shape;75;p2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●"/>
              <a:defRPr b="0" i="0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1.xml"/><Relationship Id="rId4" Type="http://schemas.openxmlformats.org/officeDocument/2006/relationships/image" Target="../media/image10.png"/><Relationship Id="rId5" Type="http://schemas.openxmlformats.org/officeDocument/2006/relationships/image" Target="../media/image7.jp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5.png"/><Relationship Id="rId5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Relationship Id="rId4" Type="http://schemas.openxmlformats.org/officeDocument/2006/relationships/image" Target="../media/image5.png"/><Relationship Id="rId5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"/>
          <p:cNvSpPr txBox="1"/>
          <p:nvPr/>
        </p:nvSpPr>
        <p:spPr>
          <a:xfrm>
            <a:off x="5593873" y="962503"/>
            <a:ext cx="28542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s-MX" sz="89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AM</a:t>
            </a:r>
            <a:endParaRPr b="1" i="0" sz="89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82" name="Google Shape;82;p1" title="WhatsApp Image 2026-04-01 at 7.46.31 PM.jpeg"/>
          <p:cNvPicPr preferRelativeResize="0"/>
          <p:nvPr/>
        </p:nvPicPr>
        <p:blipFill rotWithShape="1">
          <a:blip r:embed="rId3">
            <a:alphaModFix/>
          </a:blip>
          <a:srcRect b="2317" l="2875" r="2875" t="2317"/>
          <a:stretch/>
        </p:blipFill>
        <p:spPr>
          <a:xfrm>
            <a:off x="4701134" y="4317828"/>
            <a:ext cx="2141888" cy="157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" title="logo-banner.png"/>
          <p:cNvPicPr preferRelativeResize="0"/>
          <p:nvPr/>
        </p:nvPicPr>
        <p:blipFill rotWithShape="1">
          <a:blip r:embed="rId4">
            <a:alphaModFix/>
          </a:blip>
          <a:srcRect b="0" l="22536" r="18376" t="0"/>
          <a:stretch/>
        </p:blipFill>
        <p:spPr>
          <a:xfrm>
            <a:off x="7759120" y="4317813"/>
            <a:ext cx="1535474" cy="157380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"/>
          <p:cNvSpPr txBox="1"/>
          <p:nvPr/>
        </p:nvSpPr>
        <p:spPr>
          <a:xfrm>
            <a:off x="2870020" y="2424701"/>
            <a:ext cx="8301900" cy="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-MX" sz="3400"/>
              <a:t>ALISTAMIENTO Y MANTENIMIENTO. </a:t>
            </a:r>
            <a:endParaRPr b="1" sz="3400"/>
          </a:p>
          <a:p>
            <a:pPr indent="0" lvl="0" marL="182880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300"/>
              <a:t>Proyecto: Sistema Integrado de Alistamiento, Mantenimiento y Calidad ( Para Taller IC-Colombia).</a:t>
            </a:r>
            <a:endParaRPr sz="6800"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3426001" y="1793613"/>
            <a:ext cx="5340000" cy="16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0"/>
              <a:buFont typeface="Arial"/>
              <a:buNone/>
            </a:pPr>
            <a:r>
              <a:rPr b="0" i="0" lang="es-MX" sz="9900" u="none" cap="none" strike="noStrik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AM</a:t>
            </a:r>
            <a:endParaRPr b="0" i="0" sz="4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p2"/>
          <p:cNvCxnSpPr/>
          <p:nvPr/>
        </p:nvCxnSpPr>
        <p:spPr>
          <a:xfrm>
            <a:off x="5227899" y="3321934"/>
            <a:ext cx="1736203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" name="Google Shape;91;p2"/>
          <p:cNvSpPr txBox="1"/>
          <p:nvPr/>
        </p:nvSpPr>
        <p:spPr>
          <a:xfrm>
            <a:off x="4286552" y="3405819"/>
            <a:ext cx="3618900" cy="17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MX" sz="1700" u="none" cap="none" strike="noStrik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Arias Pinilla Juan Manuel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MX" sz="1700" u="none" cap="none" strike="noStrik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Chaparro Ramirez Juan Sebastian</a:t>
            </a:r>
            <a:endParaRPr b="1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MX" sz="1700" u="none" cap="none" strike="noStrik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Pinzon Robles Santiago Alejandro</a:t>
            </a:r>
            <a:endParaRPr b="0" i="0" sz="1700" u="none" cap="none" strike="noStrike">
              <a:solidFill>
                <a:schemeClr val="lt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MX" sz="1700" u="none" cap="none" strike="noStrik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Sanchez Gomez Daiver Andrey</a:t>
            </a:r>
            <a:endParaRPr b="0" i="0" sz="1700" u="none" cap="none" strike="noStrike">
              <a:solidFill>
                <a:schemeClr val="lt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1068888" y="5279998"/>
            <a:ext cx="10054224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MX" sz="1600" u="none" cap="none" strike="noStrik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Servicio Nacional de Aprendizaje –SENA, Centro de Electricidad Electrónica y Telecomunicaciones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MX" sz="1600" u="none" cap="none" strike="noStrik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Técnico en Programación de Software - TPS, Primer Trimestre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MX" sz="1600" u="none" cap="none" strike="noStrik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Instructor Albeiro Ramos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MX" sz="1600" u="none" cap="none" strike="noStrik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Bogotá, 25 de marzo de 2023</a:t>
            </a:r>
            <a:endParaRPr b="1" i="0" sz="1600" u="none" cap="none" strike="noStrike">
              <a:solidFill>
                <a:schemeClr val="lt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1080600" y="331715"/>
            <a:ext cx="100308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-MX" sz="3400">
                <a:solidFill>
                  <a:srgbClr val="FFFFFF"/>
                </a:solidFill>
              </a:rPr>
              <a:t>ALISTAMIENTO Y MANTENIMIENTO. </a:t>
            </a:r>
            <a:endParaRPr b="1" sz="3400">
              <a:solidFill>
                <a:srgbClr val="FFFFFF"/>
              </a:solidFill>
            </a:endParaRPr>
          </a:p>
          <a:p>
            <a:pPr indent="0" lvl="0" marL="182880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300">
                <a:solidFill>
                  <a:srgbClr val="FFFFFF"/>
                </a:solidFill>
              </a:rPr>
              <a:t>Proyecto: Sistema Integrado de Alistamiento, Mantenimiento y Calidad ( Para Taller IC-Colombia).</a:t>
            </a:r>
            <a:endParaRPr sz="6800">
              <a:solidFill>
                <a:srgbClr val="FFFFF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4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865800" y="416700"/>
            <a:ext cx="100308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-MX" sz="3400">
                <a:solidFill>
                  <a:srgbClr val="FFFFFF"/>
                </a:solidFill>
              </a:rPr>
              <a:t>ALISTAMIENTO Y MANTENIMIENTO. </a:t>
            </a:r>
            <a:endParaRPr b="1" sz="3400">
              <a:solidFill>
                <a:srgbClr val="FFFFFF"/>
              </a:solidFill>
            </a:endParaRPr>
          </a:p>
          <a:p>
            <a:pPr indent="0" lvl="0" marL="182880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300">
                <a:solidFill>
                  <a:srgbClr val="FFFFFF"/>
                </a:solidFill>
              </a:rPr>
              <a:t>Proyecto: Sistema Integrado de Alistamiento, Mantenimiento y Calidad ( Para Taller IC-Colombia).</a:t>
            </a:r>
            <a:endParaRPr sz="6800">
              <a:solidFill>
                <a:srgbClr val="FFFFF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1637121" y="3103850"/>
            <a:ext cx="28503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s-MX" sz="2100">
                <a:solidFill>
                  <a:schemeClr val="lt1"/>
                </a:solidFill>
              </a:rPr>
              <a:t>CONTENIDO</a:t>
            </a:r>
            <a:endParaRPr b="1" sz="21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i="0" lang="es-MX" sz="2100" u="none" cap="none" strike="noStrike">
                <a:solidFill>
                  <a:schemeClr val="lt1"/>
                </a:solidFill>
              </a:rPr>
              <a:t>Problema</a:t>
            </a:r>
            <a:endParaRPr i="0" sz="3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i="0" lang="es-MX" sz="2100" u="none" cap="none" strike="noStrike">
                <a:solidFill>
                  <a:schemeClr val="lt1"/>
                </a:solidFill>
              </a:rPr>
              <a:t>Objetivos</a:t>
            </a:r>
            <a:endParaRPr i="0" sz="3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i="0" lang="es-MX" sz="2100" u="none" cap="none" strike="noStrike">
                <a:solidFill>
                  <a:schemeClr val="lt1"/>
                </a:solidFill>
              </a:rPr>
              <a:t>Justificación</a:t>
            </a:r>
            <a:endParaRPr i="0" sz="3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i="0" lang="es-MX" sz="2100" u="none" cap="none" strike="noStrike">
                <a:solidFill>
                  <a:schemeClr val="lt1"/>
                </a:solidFill>
              </a:rPr>
              <a:t>Alcance</a:t>
            </a:r>
            <a:endParaRPr i="0" sz="3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i="0" lang="es-MX" sz="2100" u="none" cap="none" strike="noStrike">
                <a:solidFill>
                  <a:schemeClr val="lt1"/>
                </a:solidFill>
              </a:rPr>
              <a:t>Delimitación</a:t>
            </a:r>
            <a:endParaRPr i="0" sz="3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i="0" lang="es-MX" sz="2100" u="none" cap="none" strike="noStrike">
                <a:solidFill>
                  <a:schemeClr val="lt1"/>
                </a:solidFill>
              </a:rPr>
              <a:t>Entregables Trimestre</a:t>
            </a:r>
            <a:endParaRPr i="0" sz="300" u="none" cap="none" strike="noStrike">
              <a:solidFill>
                <a:schemeClr val="lt1"/>
              </a:solidFill>
            </a:endParaRPr>
          </a:p>
        </p:txBody>
      </p:sp>
      <p:pic>
        <p:nvPicPr>
          <p:cNvPr id="100" name="Google Shape;100;p3" title="WhatsApp Image 2026-04-01 at 7.46.31 PM.jpeg"/>
          <p:cNvPicPr preferRelativeResize="0"/>
          <p:nvPr/>
        </p:nvPicPr>
        <p:blipFill rotWithShape="1">
          <a:blip r:embed="rId5">
            <a:alphaModFix/>
          </a:blip>
          <a:srcRect b="5552" l="3120" r="2630" t="10836"/>
          <a:stretch/>
        </p:blipFill>
        <p:spPr>
          <a:xfrm>
            <a:off x="8313500" y="2693162"/>
            <a:ext cx="2850425" cy="1580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logo-banner.png"/>
          <p:cNvPicPr preferRelativeResize="0"/>
          <p:nvPr/>
        </p:nvPicPr>
        <p:blipFill rotWithShape="1">
          <a:blip r:embed="rId6">
            <a:alphaModFix/>
          </a:blip>
          <a:srcRect b="0" l="22536" r="18376" t="0"/>
          <a:stretch/>
        </p:blipFill>
        <p:spPr>
          <a:xfrm>
            <a:off x="8658789" y="4625401"/>
            <a:ext cx="2159848" cy="1884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/>
          <p:nvPr/>
        </p:nvSpPr>
        <p:spPr>
          <a:xfrm rot="-5400000">
            <a:off x="6659550" y="1313283"/>
            <a:ext cx="5107800" cy="5957100"/>
          </a:xfrm>
          <a:prstGeom prst="rtTriangle">
            <a:avLst/>
          </a:prstGeom>
          <a:solidFill>
            <a:srgbClr val="38AA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5628645" y="1895099"/>
            <a:ext cx="35148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 Light"/>
              <a:buNone/>
            </a:pPr>
            <a:r>
              <a:rPr b="0" i="0" lang="es-MX" sz="3600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Introducción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693818" y="2440927"/>
            <a:ext cx="2940000" cy="3471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420675" y="3458950"/>
            <a:ext cx="72099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s-MX" sz="1600" u="none" cap="none" strike="noStrike">
                <a:solidFill>
                  <a:schemeClr val="dk1"/>
                </a:solidFill>
              </a:rPr>
              <a:t>El proyecto se desarrolla en una empresa (</a:t>
            </a:r>
            <a:r>
              <a:rPr lang="es-MX" sz="1600">
                <a:solidFill>
                  <a:schemeClr val="dk1"/>
                </a:solidFill>
              </a:rPr>
              <a:t>Importadora IC-Colombia) </a:t>
            </a:r>
            <a:r>
              <a:rPr i="0" lang="es-MX" sz="1600" u="none" cap="none" strike="noStrike">
                <a:solidFill>
                  <a:schemeClr val="dk1"/>
                </a:solidFill>
              </a:rPr>
              <a:t>dedicada a la </a:t>
            </a:r>
            <a:r>
              <a:rPr b="1" i="0" lang="es-MX" sz="1600" u="none" cap="none" strike="noStrike">
                <a:solidFill>
                  <a:srgbClr val="FF0000"/>
                </a:solidFill>
              </a:rPr>
              <a:t>importación  de repuestos </a:t>
            </a:r>
            <a:r>
              <a:rPr b="1" lang="es-MX" sz="1600">
                <a:solidFill>
                  <a:srgbClr val="FF0000"/>
                </a:solidFill>
              </a:rPr>
              <a:t>y mantenimiento de</a:t>
            </a:r>
            <a:r>
              <a:rPr b="1" i="0" lang="es-MX" sz="1600" u="none" cap="none" strike="noStrike">
                <a:solidFill>
                  <a:srgbClr val="FF0000"/>
                </a:solidFill>
              </a:rPr>
              <a:t> maquinaria pesada</a:t>
            </a:r>
            <a:r>
              <a:rPr i="0" lang="es-MX" sz="1600" u="none" cap="none" strike="noStrike">
                <a:solidFill>
                  <a:schemeClr val="dk1"/>
                </a:solidFill>
              </a:rPr>
              <a:t>.</a:t>
            </a:r>
            <a:r>
              <a:rPr lang="es-MX" sz="1600">
                <a:solidFill>
                  <a:schemeClr val="dk1"/>
                </a:solidFill>
              </a:rPr>
              <a:t> </a:t>
            </a:r>
            <a:r>
              <a:rPr i="0" lang="es-MX" sz="1600" u="none" cap="none" strike="noStrike">
                <a:solidFill>
                  <a:schemeClr val="dk1"/>
                </a:solidFill>
              </a:rPr>
              <a:t> </a:t>
            </a:r>
            <a:br>
              <a:rPr lang="es-MX" sz="1600">
                <a:solidFill>
                  <a:schemeClr val="dk1"/>
                </a:solidFill>
              </a:rPr>
            </a:br>
            <a:br>
              <a:rPr lang="es-MX" sz="1600">
                <a:solidFill>
                  <a:schemeClr val="dk1"/>
                </a:solidFill>
              </a:rPr>
            </a:br>
            <a:r>
              <a:rPr i="0" lang="es-MX" sz="1600" u="none" cap="none" strike="noStrike">
                <a:solidFill>
                  <a:schemeClr val="dk1"/>
                </a:solidFill>
              </a:rPr>
              <a:t>Debido al manejo de gran cantidad de información, se requiere mejorar la </a:t>
            </a:r>
            <a:r>
              <a:rPr b="1" i="0" lang="es-MX" sz="1600" u="none" cap="none" strike="noStrike">
                <a:solidFill>
                  <a:srgbClr val="FF0000"/>
                </a:solidFill>
              </a:rPr>
              <a:t>gestión de los procesos</a:t>
            </a:r>
            <a:r>
              <a:rPr i="0" lang="es-MX" sz="1600" u="none" cap="none" strike="noStrike">
                <a:solidFill>
                  <a:schemeClr val="dk1"/>
                </a:solidFill>
              </a:rPr>
              <a:t>. </a:t>
            </a:r>
            <a:br>
              <a:rPr i="0" lang="es-MX" sz="1600" u="none" cap="none" strike="noStrike">
                <a:solidFill>
                  <a:schemeClr val="dk1"/>
                </a:solidFill>
              </a:rPr>
            </a:br>
            <a:br>
              <a:rPr i="0" lang="es-MX" sz="1600" u="none" cap="none" strike="noStrike">
                <a:solidFill>
                  <a:schemeClr val="dk1"/>
                </a:solidFill>
              </a:rPr>
            </a:br>
            <a:r>
              <a:rPr lang="es-MX" sz="1600">
                <a:solidFill>
                  <a:schemeClr val="dk1"/>
                </a:solidFill>
              </a:rPr>
              <a:t>S</a:t>
            </a:r>
            <a:r>
              <a:rPr i="0" lang="es-MX" sz="1600" u="none" cap="none" strike="noStrike">
                <a:solidFill>
                  <a:schemeClr val="dk1"/>
                </a:solidFill>
              </a:rPr>
              <a:t>e propone el </a:t>
            </a:r>
            <a:r>
              <a:rPr b="1" i="0" lang="es-MX" sz="1600" u="none" cap="none" strike="noStrike">
                <a:solidFill>
                  <a:srgbClr val="FF0000"/>
                </a:solidFill>
              </a:rPr>
              <a:t>diseño de un sistema de información</a:t>
            </a:r>
            <a:r>
              <a:rPr i="0" lang="es-MX" sz="1600" u="none" cap="none" strike="noStrike">
                <a:solidFill>
                  <a:schemeClr val="dk1"/>
                </a:solidFill>
              </a:rPr>
              <a:t>. Esto permitirá administrar clientes, equipos, inventarios y mantenimiento de forma eficiente.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pic>
        <p:nvPicPr>
          <p:cNvPr id="110" name="Google Shape;110;p4" title="Gemini_Generated_Image_ph9u8dph9u8dph9u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9277" y="213175"/>
            <a:ext cx="3854399" cy="276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" title="logo-banner.png"/>
          <p:cNvPicPr preferRelativeResize="0"/>
          <p:nvPr/>
        </p:nvPicPr>
        <p:blipFill rotWithShape="1">
          <a:blip r:embed="rId5">
            <a:alphaModFix/>
          </a:blip>
          <a:srcRect b="0" l="22536" r="18376" t="0"/>
          <a:stretch/>
        </p:blipFill>
        <p:spPr>
          <a:xfrm>
            <a:off x="7374250" y="154675"/>
            <a:ext cx="1850978" cy="1615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>
            <p:ph type="title"/>
          </p:nvPr>
        </p:nvSpPr>
        <p:spPr>
          <a:xfrm>
            <a:off x="394828" y="100950"/>
            <a:ext cx="79542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 sz="6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Problema</a:t>
            </a:r>
            <a:endParaRPr sz="6000"/>
          </a:p>
        </p:txBody>
      </p:sp>
      <p:sp>
        <p:nvSpPr>
          <p:cNvPr id="117" name="Google Shape;117;p5"/>
          <p:cNvSpPr txBox="1"/>
          <p:nvPr/>
        </p:nvSpPr>
        <p:spPr>
          <a:xfrm>
            <a:off x="6811900" y="1716075"/>
            <a:ext cx="4955700" cy="48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MX" sz="1900">
                <a:solidFill>
                  <a:srgbClr val="FF0000"/>
                </a:solidFill>
              </a:rPr>
              <a:t>El Problema Central</a:t>
            </a:r>
            <a:endParaRPr b="1" sz="19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MX" sz="1100"/>
              <a:t>Existe una </a:t>
            </a:r>
            <a:r>
              <a:rPr b="1" lang="es-MX" sz="1100"/>
              <a:t>fragmentación crítica de la información</a:t>
            </a:r>
            <a:r>
              <a:rPr lang="es-MX" sz="1100"/>
              <a:t> y una </a:t>
            </a:r>
            <a:r>
              <a:rPr b="1" lang="es-MX" sz="1100"/>
              <a:t>vulnerabilidad operativa</a:t>
            </a:r>
            <a:r>
              <a:rPr lang="es-MX" sz="1100"/>
              <a:t> en la capa lógica/documental, a pesar de contar con infraestructura física de última generación.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La información se recopiló mediante </a:t>
            </a:r>
            <a:r>
              <a:rPr b="1" lang="es-MX" sz="2000">
                <a:solidFill>
                  <a:srgbClr val="0000FF"/>
                </a:solidFill>
                <a:latin typeface="Work Sans"/>
                <a:ea typeface="Work Sans"/>
                <a:cs typeface="Work Sans"/>
                <a:sym typeface="Work Sans"/>
              </a:rPr>
              <a:t>actividades de observación directa con el participante (MATRIZ FODA) y revision de documentacion</a:t>
            </a:r>
            <a:endParaRPr b="1" sz="2000">
              <a:solidFill>
                <a:srgbClr val="0000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MX" sz="1300"/>
              <a:t>Puntos debiles (D1 - D3)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s-MX" sz="1100"/>
              <a:t>Captura Manual (D1):</a:t>
            </a:r>
            <a:r>
              <a:rPr lang="es-MX" sz="1100"/>
              <a:t> </a:t>
            </a:r>
            <a:r>
              <a:rPr b="1" lang="es-MX" sz="1100">
                <a:solidFill>
                  <a:srgbClr val="FF0000"/>
                </a:solidFill>
              </a:rPr>
              <a:t>Dependencia del papel y hojas de cálculo</a:t>
            </a:r>
            <a:r>
              <a:rPr lang="es-MX" sz="1100"/>
              <a:t>. Resulta en pérdida de trazabilidad, errores humanos y desactualización de Hojas de Vida (HV).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s-MX" sz="1100"/>
              <a:t>Diagnóstico Ineficiente (D2):</a:t>
            </a:r>
            <a:r>
              <a:rPr lang="es-MX" sz="1100"/>
              <a:t> </a:t>
            </a:r>
            <a:r>
              <a:rPr b="1" lang="es-MX" sz="1100">
                <a:solidFill>
                  <a:srgbClr val="FF0000"/>
                </a:solidFill>
              </a:rPr>
              <a:t>Ausencia de históricos centralizados en tiempo real</a:t>
            </a:r>
            <a:r>
              <a:rPr lang="es-MX" sz="1100"/>
              <a:t>. Esto eleva el </a:t>
            </a:r>
            <a:r>
              <a:rPr b="1" lang="es-MX" sz="1100"/>
              <a:t>MTTR</a:t>
            </a:r>
            <a:r>
              <a:rPr lang="es-MX" sz="1100"/>
              <a:t> (Tiempo Medio de Reparación) al impedir el análisis de patrones de falla.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s-MX" sz="1100"/>
              <a:t>Ruptura de Suministros (D3):</a:t>
            </a:r>
            <a:r>
              <a:rPr lang="es-MX" sz="1100"/>
              <a:t> </a:t>
            </a:r>
            <a:r>
              <a:rPr b="1" lang="es-MX" sz="1100">
                <a:solidFill>
                  <a:srgbClr val="FF0000"/>
                </a:solidFill>
              </a:rPr>
              <a:t>Desconexión entre el estado del equipo y el inventario</a:t>
            </a:r>
            <a:r>
              <a:rPr lang="es-MX" sz="1100"/>
              <a:t>, causando paradas prolongadas y riesgos en compromisos contractuales.</a:t>
            </a:r>
            <a:endParaRPr b="0" i="0" sz="20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18" name="Google Shape;118;p5" title="WhatsApp Image 2026-04-01 at 7.46.31 PM.jpeg"/>
          <p:cNvPicPr preferRelativeResize="0"/>
          <p:nvPr/>
        </p:nvPicPr>
        <p:blipFill rotWithShape="1">
          <a:blip r:embed="rId3">
            <a:alphaModFix/>
          </a:blip>
          <a:srcRect b="5552" l="3120" r="2630" t="10836"/>
          <a:stretch/>
        </p:blipFill>
        <p:spPr>
          <a:xfrm>
            <a:off x="7602500" y="279030"/>
            <a:ext cx="1748914" cy="96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 title="logo-banner.png"/>
          <p:cNvPicPr preferRelativeResize="0"/>
          <p:nvPr/>
        </p:nvPicPr>
        <p:blipFill rotWithShape="1">
          <a:blip r:embed="rId4">
            <a:alphaModFix/>
          </a:blip>
          <a:srcRect b="0" l="22536" r="18376" t="0"/>
          <a:stretch/>
        </p:blipFill>
        <p:spPr>
          <a:xfrm>
            <a:off x="9418999" y="185575"/>
            <a:ext cx="1325201" cy="115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-2" y="1426650"/>
            <a:ext cx="6700604" cy="543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/>
          <p:nvPr/>
        </p:nvSpPr>
        <p:spPr>
          <a:xfrm>
            <a:off x="1447275" y="809079"/>
            <a:ext cx="3468900" cy="138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 txBox="1"/>
          <p:nvPr/>
        </p:nvSpPr>
        <p:spPr>
          <a:xfrm>
            <a:off x="1143224" y="310755"/>
            <a:ext cx="40770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200"/>
              <a:buFont typeface="Work Sans Light"/>
              <a:buNone/>
            </a:pPr>
            <a:r>
              <a:rPr b="1" i="0" lang="es-MX" sz="32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556228" y="1286825"/>
            <a:ext cx="7446000" cy="13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36576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>
                <a:solidFill>
                  <a:srgbClr val="0000FF"/>
                </a:solidFill>
              </a:rPr>
              <a:t>Desarrollar un sistema integrado de información</a:t>
            </a:r>
            <a:r>
              <a:rPr lang="es-MX"/>
              <a:t> para la gestión de alistamiento, mantenimiento y calidad de la flota automotriz de </a:t>
            </a:r>
            <a:r>
              <a:rPr b="1" lang="es-MX"/>
              <a:t>IC-Colombia</a:t>
            </a:r>
            <a:r>
              <a:rPr lang="es-MX"/>
              <a:t>, que centralice la operación de taller, automatice el control documental y asegure la integridad de los datos bajo estándares ISO.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1226175" y="3338696"/>
            <a:ext cx="3911100" cy="180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 txBox="1"/>
          <p:nvPr/>
        </p:nvSpPr>
        <p:spPr>
          <a:xfrm>
            <a:off x="1039173" y="2867700"/>
            <a:ext cx="53985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200"/>
              <a:buFont typeface="Work Sans Light"/>
              <a:buNone/>
            </a:pPr>
            <a:r>
              <a:rPr b="1" i="0" lang="es-MX" sz="32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Objetivo Específicos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130" name="Google Shape;130;p6"/>
          <p:cNvSpPr txBox="1"/>
          <p:nvPr/>
        </p:nvSpPr>
        <p:spPr>
          <a:xfrm>
            <a:off x="81700" y="3552900"/>
            <a:ext cx="8122800" cy="3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MX" sz="1100"/>
              <a:t>Para alcanzar el propósito principal, los objetivos del proyecto se plantean bajo los siguientes hitos técnicos:</a:t>
            </a:r>
            <a:endParaRPr sz="1100"/>
          </a:p>
          <a:p>
            <a:pPr indent="-2984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AutoNum type="alphaLcPeriod"/>
            </a:pPr>
            <a:r>
              <a:rPr b="1" lang="es-MX" sz="1100"/>
              <a:t>Fase de Análisis:</a:t>
            </a:r>
            <a:r>
              <a:rPr lang="es-MX" sz="1100"/>
              <a:t> </a:t>
            </a:r>
            <a:r>
              <a:rPr b="1" lang="es-MX" sz="1100">
                <a:solidFill>
                  <a:srgbClr val="0000FF"/>
                </a:solidFill>
              </a:rPr>
              <a:t>Caracterizar los flujos de información</a:t>
            </a:r>
            <a:r>
              <a:rPr lang="es-MX" sz="1100"/>
              <a:t> de las 7 bases de datos maestras (Clientes, Proveedores, Colaboradores, Equipos, Inventario, Documentación, Hallazgos) para asegurar la cobertura total de los procesos de IC-Colombia.</a:t>
            </a:r>
            <a:endParaRPr sz="1100"/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b="1" lang="es-MX" sz="1100"/>
              <a:t>Fase de Diseño:</a:t>
            </a:r>
            <a:r>
              <a:rPr lang="es-MX" sz="1100"/>
              <a:t> </a:t>
            </a:r>
            <a:r>
              <a:rPr b="1" lang="es-MX" sz="1100">
                <a:solidFill>
                  <a:srgbClr val="0000FF"/>
                </a:solidFill>
              </a:rPr>
              <a:t>Diseñar la arquitectura de software y la interfaz de usuario</a:t>
            </a:r>
            <a:r>
              <a:rPr lang="es-MX" sz="1100"/>
              <a:t>, garantizando la usabilidad para el personal de taller y la seguridad mediante protocolos RBAC y cifrado AES-256.</a:t>
            </a:r>
            <a:endParaRPr sz="1100"/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b="1" lang="es-MX" sz="1100"/>
              <a:t>Fase de Desarrollo:</a:t>
            </a:r>
            <a:r>
              <a:rPr lang="es-MX" sz="1100"/>
              <a:t> </a:t>
            </a:r>
            <a:r>
              <a:rPr b="1" lang="es-MX" sz="1100">
                <a:solidFill>
                  <a:srgbClr val="0000FF"/>
                </a:solidFill>
              </a:rPr>
              <a:t>Construir los módulos funcionales del sistema</a:t>
            </a:r>
            <a:r>
              <a:rPr lang="es-MX" sz="1100"/>
              <a:t> (Registro de OTs, Control de Inventarios, Seguimiento de KPIs y Gestión Documental) integrando las "Reglas de Negocio" (Hard Constraints) que impidan la regresión de horometros y el cierre de procesos sin evidencia.</a:t>
            </a:r>
            <a:endParaRPr sz="1100"/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b="1" lang="es-MX" sz="1100"/>
              <a:t>Fase de Calidad:</a:t>
            </a:r>
            <a:r>
              <a:rPr lang="es-MX" sz="1100"/>
              <a:t> </a:t>
            </a:r>
            <a:r>
              <a:rPr b="1" lang="es-MX" sz="1100">
                <a:solidFill>
                  <a:srgbClr val="0000FF"/>
                </a:solidFill>
              </a:rPr>
              <a:t>Validar el sistema mediante pruebas de software</a:t>
            </a:r>
            <a:r>
              <a:rPr lang="es-MX" sz="1100"/>
              <a:t> basadas en la norma </a:t>
            </a:r>
            <a:r>
              <a:rPr b="1" lang="es-MX" sz="1100"/>
              <a:t>ISO/IEC 25000 (SQuaRE)</a:t>
            </a:r>
            <a:r>
              <a:rPr lang="es-MX" sz="1100"/>
              <a:t>, evaluando la eficiencia de desempeño, la seguridad y la fiabilidad de la plataforma.</a:t>
            </a:r>
            <a:endParaRPr sz="1100"/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b="1" lang="es-MX" sz="1100"/>
              <a:t>Fase de Implementación:</a:t>
            </a:r>
            <a:r>
              <a:rPr lang="es-MX" sz="1100"/>
              <a:t> </a:t>
            </a:r>
            <a:r>
              <a:rPr b="1" lang="es-MX" sz="1100">
                <a:solidFill>
                  <a:srgbClr val="0000FF"/>
                </a:solidFill>
              </a:rPr>
              <a:t>Desplegar la solución en un entorno productivo</a:t>
            </a:r>
            <a:r>
              <a:rPr lang="es-MX" sz="1100"/>
              <a:t> y capacitar al personal técnico y administrativo, mitigando la resistencia al cambio mediante estrategias de adopción digital.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31" name="Google Shape;131;p6"/>
          <p:cNvSpPr/>
          <p:nvPr/>
        </p:nvSpPr>
        <p:spPr>
          <a:xfrm rot="-5400000">
            <a:off x="6969179" y="1635175"/>
            <a:ext cx="5164110" cy="5281535"/>
          </a:xfrm>
          <a:prstGeom prst="rtTriangle">
            <a:avLst/>
          </a:prstGeom>
          <a:solidFill>
            <a:srgbClr val="3AAC00"/>
          </a:solidFill>
          <a:ln cap="flat" cmpd="sng" w="25400">
            <a:solidFill>
              <a:srgbClr val="3AA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 txBox="1"/>
          <p:nvPr>
            <p:ph type="title"/>
          </p:nvPr>
        </p:nvSpPr>
        <p:spPr>
          <a:xfrm>
            <a:off x="456228" y="110475"/>
            <a:ext cx="7652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 sz="6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Justificación</a:t>
            </a:r>
            <a:endParaRPr sz="6000"/>
          </a:p>
        </p:txBody>
      </p:sp>
      <p:sp>
        <p:nvSpPr>
          <p:cNvPr id="137" name="Google Shape;137;p7"/>
          <p:cNvSpPr txBox="1"/>
          <p:nvPr/>
        </p:nvSpPr>
        <p:spPr>
          <a:xfrm>
            <a:off x="254004" y="1780951"/>
            <a:ext cx="11581500" cy="54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MX" sz="1500"/>
              <a:t>La implementación del </a:t>
            </a:r>
            <a:r>
              <a:rPr b="1" lang="es-MX" sz="1500"/>
              <a:t>Sistema Integrado A.M</a:t>
            </a:r>
            <a:r>
              <a:rPr lang="es-MX" sz="1500"/>
              <a:t> no es solo una actualización tecnológica, es una respuesta estratégica a la necesidad de sostenibilidad operativa y </a:t>
            </a:r>
            <a:r>
              <a:rPr b="1" lang="es-MX" sz="1500">
                <a:solidFill>
                  <a:srgbClr val="FF0000"/>
                </a:solidFill>
              </a:rPr>
              <a:t>cumplimiento normativo</a:t>
            </a:r>
            <a:r>
              <a:rPr lang="es-MX" sz="1500"/>
              <a:t> para IC-Colombia. </a:t>
            </a:r>
            <a:br>
              <a:rPr lang="es-MX" sz="1500"/>
            </a:br>
            <a:r>
              <a:rPr lang="es-MX" sz="1500"/>
              <a:t>La justificación de este proyecto se basa en tres pilares: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AutoNum type="alphaLcPeriod"/>
            </a:pPr>
            <a:r>
              <a:rPr b="1" lang="es-MX" sz="1500">
                <a:solidFill>
                  <a:srgbClr val="0000FF"/>
                </a:solidFill>
              </a:rPr>
              <a:t>Reducción del "Costo de No-Calidad":</a:t>
            </a:r>
            <a:r>
              <a:rPr lang="es-MX" sz="1500"/>
              <a:t> Actualmente, la falta de trazabilidad en los horómetros y el historial de mantenimiento provoca </a:t>
            </a:r>
            <a:r>
              <a:rPr b="1" lang="es-MX" sz="1500">
                <a:solidFill>
                  <a:srgbClr val="FF0000"/>
                </a:solidFill>
              </a:rPr>
              <a:t>fallas repetitivas en los vehículos</a:t>
            </a:r>
            <a:r>
              <a:rPr lang="es-MX" sz="1500"/>
              <a:t>. Cada día que un equipo permanece fuera de servicio por un diagnóstico errado o falta de repuestos representa una </a:t>
            </a:r>
            <a:r>
              <a:rPr b="1" lang="es-MX" sz="1500">
                <a:solidFill>
                  <a:srgbClr val="FF0000"/>
                </a:solidFill>
              </a:rPr>
              <a:t>pérdida económica directa</a:t>
            </a:r>
            <a:r>
              <a:rPr lang="es-MX" sz="1500"/>
              <a:t>. El sistema automatizado permitirá optimizar el </a:t>
            </a:r>
            <a:r>
              <a:rPr b="1" lang="es-MX" sz="1500"/>
              <a:t>MTTR (Tiempo Medio de Reparación)</a:t>
            </a:r>
            <a:r>
              <a:rPr lang="es-MX" sz="1500"/>
              <a:t>, maximizando la disponibilidad de la flota.</a:t>
            </a:r>
            <a:br>
              <a:rPr lang="es-MX" sz="1500"/>
            </a:b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s-MX" sz="1500">
                <a:solidFill>
                  <a:srgbClr val="0000FF"/>
                </a:solidFill>
              </a:rPr>
              <a:t>Blindaje Normativo y Trazabilidad:</a:t>
            </a:r>
            <a:r>
              <a:rPr lang="es-MX" sz="1500"/>
              <a:t> Bajo la norma </a:t>
            </a:r>
            <a:r>
              <a:rPr b="1" lang="es-MX" sz="1500"/>
              <a:t>ISO 9001:2015</a:t>
            </a:r>
            <a:r>
              <a:rPr lang="es-MX" sz="1500"/>
              <a:t>, la empresa debe garantizar la integridad de su información documentada. Este software </a:t>
            </a:r>
            <a:r>
              <a:rPr b="1" lang="es-MX" sz="1500">
                <a:solidFill>
                  <a:srgbClr val="FF0000"/>
                </a:solidFill>
              </a:rPr>
              <a:t>elimina el riesgo de pérdida de registros físicos</a:t>
            </a:r>
            <a:r>
              <a:rPr lang="es-MX" sz="1500"/>
              <a:t> y asegura que, ante una auditoría, la evidencia de mantenimiento, calibración y </a:t>
            </a:r>
            <a:r>
              <a:rPr b="1" lang="es-MX" sz="1500">
                <a:solidFill>
                  <a:srgbClr val="FF0000"/>
                </a:solidFill>
              </a:rPr>
              <a:t>satisfacción del cliente</a:t>
            </a:r>
            <a:r>
              <a:rPr lang="es-MX" sz="1500"/>
              <a:t> esté disponible de forma inmediata y veraz.</a:t>
            </a:r>
            <a:br>
              <a:rPr lang="es-MX" sz="1500"/>
            </a:b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s-MX" sz="1500">
                <a:solidFill>
                  <a:srgbClr val="0000FF"/>
                </a:solidFill>
              </a:rPr>
              <a:t>Seguridad y Confiabilidad Técnica:</a:t>
            </a:r>
            <a:r>
              <a:rPr lang="es-MX" sz="1500"/>
              <a:t> Al transportar materiales peligrosos (ACPM), el estado mecánico de los carrotanques es una </a:t>
            </a:r>
            <a:r>
              <a:rPr b="1" lang="es-MX" sz="1500">
                <a:solidFill>
                  <a:srgbClr val="FF0000"/>
                </a:solidFill>
              </a:rPr>
              <a:t>prioridad de seguridad nacional y ambiental</a:t>
            </a:r>
            <a:r>
              <a:rPr lang="es-MX" sz="1500"/>
              <a:t>. Al asegurar que los mantenimientos preventivos se disparen con exactitud matemática mediante las reglas de negocio, se </a:t>
            </a:r>
            <a:r>
              <a:rPr b="1" lang="es-MX" sz="1500">
                <a:solidFill>
                  <a:srgbClr val="FF0000"/>
                </a:solidFill>
              </a:rPr>
              <a:t>minimiza el riesgo de accidentes</a:t>
            </a:r>
            <a:r>
              <a:rPr lang="es-MX" sz="1500"/>
              <a:t> por fallas mecánicas evitables.</a:t>
            </a:r>
            <a:br>
              <a:rPr lang="es-MX" sz="1500"/>
            </a:br>
            <a:endParaRPr sz="15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s-MX" sz="1500">
                <a:solidFill>
                  <a:srgbClr val="0000FF"/>
                </a:solidFill>
              </a:rPr>
              <a:t>El Control de Inventarios en Tiempo Real:</a:t>
            </a:r>
            <a:r>
              <a:rPr lang="es-MX" sz="1500">
                <a:solidFill>
                  <a:schemeClr val="dk1"/>
                </a:solidFill>
              </a:rPr>
              <a:t> </a:t>
            </a:r>
            <a:r>
              <a:rPr lang="es-MX" sz="1500">
                <a:solidFill>
                  <a:srgbClr val="0C0C0C"/>
                </a:solidFill>
              </a:rPr>
              <a:t>permitirá gestionar mejor los recursos, conocer las existencias con precisión y tomar decisiones oportunas, </a:t>
            </a:r>
            <a:r>
              <a:rPr b="1" lang="es-MX" sz="1500">
                <a:solidFill>
                  <a:srgbClr val="FF0000"/>
                </a:solidFill>
              </a:rPr>
              <a:t>evitando pérdidas, sobrecostos y desabastecimientos.</a:t>
            </a:r>
            <a:endParaRPr b="1" sz="1500">
              <a:solidFill>
                <a:srgbClr val="FF0000"/>
              </a:solidFill>
            </a:endParaRPr>
          </a:p>
          <a:p>
            <a:pPr indent="-1841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3500"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38" name="Google Shape;138;p7" title="WhatsApp Image 2026-04-01 at 7.46.31 PM.jpeg"/>
          <p:cNvPicPr preferRelativeResize="0"/>
          <p:nvPr/>
        </p:nvPicPr>
        <p:blipFill rotWithShape="1">
          <a:blip r:embed="rId3">
            <a:alphaModFix/>
          </a:blip>
          <a:srcRect b="5552" l="3120" r="2630" t="10836"/>
          <a:stretch/>
        </p:blipFill>
        <p:spPr>
          <a:xfrm>
            <a:off x="7602500" y="279030"/>
            <a:ext cx="1748914" cy="96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7" title="logo-banner.png"/>
          <p:cNvPicPr preferRelativeResize="0"/>
          <p:nvPr/>
        </p:nvPicPr>
        <p:blipFill rotWithShape="1">
          <a:blip r:embed="rId4">
            <a:alphaModFix/>
          </a:blip>
          <a:srcRect b="0" l="22536" r="18376" t="0"/>
          <a:stretch/>
        </p:blipFill>
        <p:spPr>
          <a:xfrm>
            <a:off x="9418999" y="185575"/>
            <a:ext cx="1325201" cy="1156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 txBox="1"/>
          <p:nvPr>
            <p:ph type="title"/>
          </p:nvPr>
        </p:nvSpPr>
        <p:spPr>
          <a:xfrm>
            <a:off x="456229" y="110475"/>
            <a:ext cx="6488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 sz="6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Alcance</a:t>
            </a:r>
            <a:endParaRPr sz="6000"/>
          </a:p>
        </p:txBody>
      </p:sp>
      <p:pic>
        <p:nvPicPr>
          <p:cNvPr id="145" name="Google Shape;145;p9" title="WhatsApp Image 2026-04-01 at 7.46.31 PM.jpeg"/>
          <p:cNvPicPr preferRelativeResize="0"/>
          <p:nvPr/>
        </p:nvPicPr>
        <p:blipFill rotWithShape="1">
          <a:blip r:embed="rId3">
            <a:alphaModFix/>
          </a:blip>
          <a:srcRect b="5552" l="3120" r="2630" t="10836"/>
          <a:stretch/>
        </p:blipFill>
        <p:spPr>
          <a:xfrm>
            <a:off x="7673782" y="279030"/>
            <a:ext cx="1748914" cy="96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9" title="logo-banner.png"/>
          <p:cNvPicPr preferRelativeResize="0"/>
          <p:nvPr/>
        </p:nvPicPr>
        <p:blipFill rotWithShape="1">
          <a:blip r:embed="rId4">
            <a:alphaModFix/>
          </a:blip>
          <a:srcRect b="0" l="22536" r="18376" t="0"/>
          <a:stretch/>
        </p:blipFill>
        <p:spPr>
          <a:xfrm>
            <a:off x="9527800" y="185575"/>
            <a:ext cx="1385725" cy="115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03325" y="1522149"/>
            <a:ext cx="3488675" cy="28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9"/>
          <p:cNvSpPr txBox="1"/>
          <p:nvPr/>
        </p:nvSpPr>
        <p:spPr>
          <a:xfrm>
            <a:off x="1010350" y="2648400"/>
            <a:ext cx="7145100" cy="17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s-MX" sz="1600"/>
              <a:t>Centralizar, automatizar y asegurar</a:t>
            </a:r>
            <a:r>
              <a:rPr lang="es-MX" sz="1600"/>
              <a:t> la gestión de alistamiento y mantenimiento de la flota mediante un sistema integrado de información que garantice la integridad de los datos bajo estándares </a:t>
            </a:r>
            <a:r>
              <a:rPr b="1" lang="es-MX" sz="1600"/>
              <a:t>ISO</a:t>
            </a:r>
            <a:r>
              <a:rPr lang="es-MX" sz="1600"/>
              <a:t>.</a:t>
            </a:r>
            <a:endParaRPr sz="1600"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sz="1600"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sz="1100"/>
          </a:p>
        </p:txBody>
      </p:sp>
      <p:graphicFrame>
        <p:nvGraphicFramePr>
          <p:cNvPr id="149" name="Google Shape;149;p9"/>
          <p:cNvGraphicFramePr/>
          <p:nvPr/>
        </p:nvGraphicFramePr>
        <p:xfrm>
          <a:off x="412025" y="416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{09C5738F-8AE1-4E33-BC60-913B255D28DC}</a:tableStyleId>
              </a:tblPr>
              <a:tblGrid>
                <a:gridCol w="1001400"/>
                <a:gridCol w="2333300"/>
                <a:gridCol w="3004225"/>
                <a:gridCol w="3004225"/>
              </a:tblGrid>
              <a:tr h="282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No.</a:t>
                      </a:r>
                      <a:endParaRPr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Resultado</a:t>
                      </a:r>
                      <a:endParaRPr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Alcance</a:t>
                      </a:r>
                      <a:endParaRPr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Impacto</a:t>
                      </a:r>
                      <a:endParaRPr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</a:tr>
              <a:tr h="5142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Software CMMS "Sistema Integrado"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Automatización total de los 10 procesos de mantenimiento y calidad.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Técnico: </a:t>
                      </a:r>
                      <a:r>
                        <a:rPr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Eliminación del error humano en la captura de datos (D1).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42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Base de Datos Centralizada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Interconexión de las 7 bases de datos maestras en tiempo real.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Económico:</a:t>
                      </a:r>
                      <a:r>
                        <a:rPr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Reducción del 15% en costos por fallas repetitivas.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5142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Módulo de Cumplimiento ISO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Generación automática de evidencias para auditorías ISO 9001.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Social/Calidad: </a:t>
                      </a:r>
                      <a:r>
                        <a:rPr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Blindaje legal y normativo ante entes certificadores.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42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Dashboard de KPIs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Visualización de MTTR/MTBF para la toma de decisiones gerenciales.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Económico:</a:t>
                      </a:r>
                      <a:r>
                        <a:rPr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Optimización de la disponibilidad de la flota de carrotanques.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 txBox="1"/>
          <p:nvPr>
            <p:ph type="title"/>
          </p:nvPr>
        </p:nvSpPr>
        <p:spPr>
          <a:xfrm>
            <a:off x="456229" y="110475"/>
            <a:ext cx="6414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 sz="6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Delimitación</a:t>
            </a:r>
            <a:endParaRPr sz="6000"/>
          </a:p>
        </p:txBody>
      </p:sp>
      <p:pic>
        <p:nvPicPr>
          <p:cNvPr id="155" name="Google Shape;155;p10" title="WhatsApp Image 2026-04-01 at 7.46.31 PM.jpeg"/>
          <p:cNvPicPr preferRelativeResize="0"/>
          <p:nvPr/>
        </p:nvPicPr>
        <p:blipFill rotWithShape="1">
          <a:blip r:embed="rId3">
            <a:alphaModFix/>
          </a:blip>
          <a:srcRect b="5552" l="3120" r="2630" t="10836"/>
          <a:stretch/>
        </p:blipFill>
        <p:spPr>
          <a:xfrm>
            <a:off x="7602500" y="279030"/>
            <a:ext cx="1748914" cy="96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0" title="logo-banner.png"/>
          <p:cNvPicPr preferRelativeResize="0"/>
          <p:nvPr/>
        </p:nvPicPr>
        <p:blipFill rotWithShape="1">
          <a:blip r:embed="rId4">
            <a:alphaModFix/>
          </a:blip>
          <a:srcRect b="0" l="22536" r="18376" t="0"/>
          <a:stretch/>
        </p:blipFill>
        <p:spPr>
          <a:xfrm>
            <a:off x="9418999" y="185575"/>
            <a:ext cx="1325201" cy="115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02500" y="2608020"/>
            <a:ext cx="3106176" cy="2518617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0"/>
          <p:cNvSpPr txBox="1"/>
          <p:nvPr/>
        </p:nvSpPr>
        <p:spPr>
          <a:xfrm>
            <a:off x="388075" y="3240650"/>
            <a:ext cx="4126500" cy="26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Ver matrices del anexo 1: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MASTER PROCESOS ALISTAMIENTO Y MANTENIMIENTO + CALIDAD + REQUISITOS</a:t>
            </a:r>
            <a:endParaRPr b="1"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71748a97e_0_2"/>
          <p:cNvSpPr txBox="1"/>
          <p:nvPr>
            <p:ph type="title"/>
          </p:nvPr>
        </p:nvSpPr>
        <p:spPr>
          <a:xfrm>
            <a:off x="838200" y="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DIAGRAMA DE GANT (</a:t>
            </a:r>
            <a:r>
              <a:rPr lang="es-MX" sz="32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Entregables Proyecto Formativo por Trimestre)</a:t>
            </a:r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165" name="Google Shape;165;g3971748a97e_0_2"/>
          <p:cNvGraphicFramePr/>
          <p:nvPr/>
        </p:nvGraphicFramePr>
        <p:xfrm>
          <a:off x="406625" y="157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{09C5738F-8AE1-4E33-BC60-913B255D28DC}</a:tableStyleId>
              </a:tblPr>
              <a:tblGrid>
                <a:gridCol w="1588725"/>
                <a:gridCol w="2978875"/>
                <a:gridCol w="992950"/>
                <a:gridCol w="992950"/>
                <a:gridCol w="992950"/>
                <a:gridCol w="992950"/>
                <a:gridCol w="992950"/>
                <a:gridCol w="992950"/>
                <a:gridCol w="992950"/>
              </a:tblGrid>
              <a:tr h="155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Fase / Eje Temático</a:t>
                      </a:r>
                      <a:endParaRPr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Documento Entregable (ADSO)</a:t>
                      </a:r>
                      <a:endParaRPr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T1</a:t>
                      </a:r>
                      <a:endParaRPr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T2</a:t>
                      </a:r>
                      <a:endParaRPr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T3</a:t>
                      </a:r>
                      <a:endParaRPr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T4</a:t>
                      </a:r>
                      <a:endParaRPr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T5</a:t>
                      </a:r>
                      <a:endParaRPr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T6</a:t>
                      </a:r>
                      <a:endParaRPr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T7</a:t>
                      </a:r>
                      <a:endParaRPr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ANÁLISIS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Plan de Proyecto (PL01)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Levantamiento de Información (Técnicas e Instrumentos)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Diagrama de Procesos (Macroproceso y Subprocesos)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Especificación de Requisitos (IEEE-830 / Historias de Usuario)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Diagrama de Casos de Uso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Casos de Uso Extendido (Narrativa)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DISEÑO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Diagrama de Clases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Modelo Entidad Relación (MER)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Modelo Relacional (MR)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Diccionario de Datos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Prototipo No Funcional (Maquetas/Wireframes)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Patrón de Diseño (Arquitectura de Software)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Planeación de Pruebas (Plan de Pruebas de Software)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DESARROLLO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Script de la BBDD (Completo)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Sentencias DDL (Definición de Datos)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Consultas DML (Manipulación de Datos)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Automatización de la BBDD (Triggers / Procedimientos)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Sistema de Información Web – Servidor Local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Configuración del Servidor de BBDD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Ejecución de Pruebas (Resultados y Ajustes)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IMPLANTACIÓN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Sistema de Información Web – Servidor Externo (Hosting)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Configuración del Servidor de Aplicaciones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Manual de Instalación y Configuración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Manual de Usuario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Interfaz de usuario gráfica&#10;&#10;Descripción generada automáticamente" id="170" name="Google Shape;17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Zae Redfield</dc:creator>
</cp:coreProperties>
</file>